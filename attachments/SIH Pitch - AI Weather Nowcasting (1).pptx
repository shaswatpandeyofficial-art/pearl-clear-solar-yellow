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6858000" cx="12192000"/>
  <p:notesSz cx="6858000" cy="9144000"/>
  <p:embeddedFontLst>
    <p:embeddedFont>
      <p:font typeface="Inter SemiBold"/>
      <p:regular r:id="rId17"/>
      <p:bold r:id="rId18"/>
      <p:italic r:id="rId19"/>
      <p:boldItalic r:id="rId20"/>
    </p:embeddedFont>
    <p:embeddedFont>
      <p:font typeface="Inter"/>
      <p:regular r:id="rId21"/>
      <p:bold r:id="rId22"/>
      <p:italic r:id="rId23"/>
      <p:boldItalic r:id="rId24"/>
    </p:embeddedFont>
    <p:embeddedFont>
      <p:font typeface="Inter ExtraBold"/>
      <p:bold r:id="rId25"/>
      <p:boldItalic r:id="rId26"/>
    </p:embeddedFont>
    <p:embeddedFont>
      <p:font typeface="Inter Medium"/>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9371001-DAA5-4BC6-B971-1A2579F48944}">
  <a:tblStyle styleId="{89371001-DAA5-4BC6-B971-1A2579F48944}"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SemiBold-boldItalic.fntdata"/><Relationship Id="rId22" Type="http://schemas.openxmlformats.org/officeDocument/2006/relationships/font" Target="fonts/Inter-bold.fntdata"/><Relationship Id="rId21" Type="http://schemas.openxmlformats.org/officeDocument/2006/relationships/font" Target="fonts/Inter-regular.fntdata"/><Relationship Id="rId24" Type="http://schemas.openxmlformats.org/officeDocument/2006/relationships/font" Target="fonts/Inter-boldItalic.fntdata"/><Relationship Id="rId23" Type="http://schemas.openxmlformats.org/officeDocument/2006/relationships/font" Target="fonts/Inter-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ExtraBold-boldItalic.fntdata"/><Relationship Id="rId25" Type="http://schemas.openxmlformats.org/officeDocument/2006/relationships/font" Target="fonts/InterExtraBold-bold.fntdata"/><Relationship Id="rId28" Type="http://schemas.openxmlformats.org/officeDocument/2006/relationships/font" Target="fonts/InterMedium-bold.fntdata"/><Relationship Id="rId27" Type="http://schemas.openxmlformats.org/officeDocument/2006/relationships/font" Target="fonts/InterMedium-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nterMedium-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InterMedium-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InterSemiBold-regular.fntdata"/><Relationship Id="rId16" Type="http://schemas.openxmlformats.org/officeDocument/2006/relationships/slide" Target="slides/slide10.xml"/><Relationship Id="rId19" Type="http://schemas.openxmlformats.org/officeDocument/2006/relationships/font" Target="fonts/InterSemiBold-italic.fntdata"/><Relationship Id="rId18" Type="http://schemas.openxmlformats.org/officeDocument/2006/relationships/font" Target="fonts/Inter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27.jpg"/></Relationships>
</file>

<file path=ppt/slides/_rels/slide3.xml.rels><?xml version="1.0" encoding="UTF-8" standalone="yes"?><Relationships xmlns="http://schemas.openxmlformats.org/package/2006/relationships"><Relationship Id="rId11" Type="http://schemas.openxmlformats.org/officeDocument/2006/relationships/image" Target="../media/image32.png"/><Relationship Id="rId10" Type="http://schemas.openxmlformats.org/officeDocument/2006/relationships/image" Target="../media/image10.png"/><Relationship Id="rId13" Type="http://schemas.openxmlformats.org/officeDocument/2006/relationships/image" Target="../media/image13.png"/><Relationship Id="rId12" Type="http://schemas.openxmlformats.org/officeDocument/2006/relationships/image" Target="../media/image17.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5.png"/><Relationship Id="rId14" Type="http://schemas.openxmlformats.org/officeDocument/2006/relationships/image" Target="../media/image31.png"/><Relationship Id="rId5" Type="http://schemas.openxmlformats.org/officeDocument/2006/relationships/image" Target="../media/image30.png"/><Relationship Id="rId6" Type="http://schemas.openxmlformats.org/officeDocument/2006/relationships/image" Target="../media/image28.png"/><Relationship Id="rId7" Type="http://schemas.openxmlformats.org/officeDocument/2006/relationships/image" Target="../media/image5.png"/><Relationship Id="rId8"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9.png"/><Relationship Id="rId4" Type="http://schemas.openxmlformats.org/officeDocument/2006/relationships/image" Target="../media/image16.png"/><Relationship Id="rId5"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4.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0" y="0"/>
            <a:ext cx="6705600" cy="6858000"/>
          </a:xfrm>
          <a:prstGeom prst="rect">
            <a:avLst/>
          </a:prstGeom>
          <a:noFill/>
          <a:ln>
            <a:noFill/>
          </a:ln>
        </p:spPr>
      </p:pic>
      <p:pic>
        <p:nvPicPr>
          <p:cNvPr descr="image.png" id="86" name="Google Shape;86;p13"/>
          <p:cNvPicPr preferRelativeResize="0"/>
          <p:nvPr/>
        </p:nvPicPr>
        <p:blipFill rotWithShape="1">
          <a:blip r:embed="rId5">
            <a:alphaModFix/>
          </a:blip>
          <a:srcRect b="0" l="0" r="0" t="0"/>
          <a:stretch/>
        </p:blipFill>
        <p:spPr>
          <a:xfrm>
            <a:off x="762000" y="2378422"/>
            <a:ext cx="5181600" cy="333375"/>
          </a:xfrm>
          <a:prstGeom prst="rect">
            <a:avLst/>
          </a:prstGeom>
          <a:noFill/>
          <a:ln>
            <a:noFill/>
          </a:ln>
        </p:spPr>
      </p:pic>
      <p:sp>
        <p:nvSpPr>
          <p:cNvPr id="87" name="Google Shape;87;p13"/>
          <p:cNvSpPr txBox="1"/>
          <p:nvPr/>
        </p:nvSpPr>
        <p:spPr>
          <a:xfrm>
            <a:off x="762000" y="2940397"/>
            <a:ext cx="5440800" cy="738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lang="en-US" sz="4800">
                <a:solidFill>
                  <a:srgbClr val="FFFFFF"/>
                </a:solidFill>
                <a:latin typeface="Inter ExtraBold"/>
                <a:ea typeface="Inter ExtraBold"/>
                <a:cs typeface="Inter ExtraBold"/>
                <a:sym typeface="Inter ExtraBold"/>
              </a:rPr>
              <a:t>VISIONARIES </a:t>
            </a:r>
            <a:endParaRPr/>
          </a:p>
        </p:txBody>
      </p:sp>
      <p:sp>
        <p:nvSpPr>
          <p:cNvPr id="88" name="Google Shape;88;p13"/>
          <p:cNvSpPr txBox="1"/>
          <p:nvPr/>
        </p:nvSpPr>
        <p:spPr>
          <a:xfrm>
            <a:off x="762000" y="3839467"/>
            <a:ext cx="5181600" cy="6399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FFFFFF"/>
                </a:solidFill>
                <a:latin typeface="Inter"/>
                <a:ea typeface="Inter"/>
                <a:cs typeface="Inter"/>
                <a:sym typeface="Inter"/>
              </a:rPr>
              <a:t>An AI-Driven Hyper-Local Early Warning System for Severe Weather Nowcasting.</a:t>
            </a:r>
            <a:endParaRPr/>
          </a:p>
        </p:txBody>
      </p:sp>
      <p:sp>
        <p:nvSpPr>
          <p:cNvPr id="89" name="Google Shape;89;p13"/>
          <p:cNvSpPr txBox="1"/>
          <p:nvPr/>
        </p:nvSpPr>
        <p:spPr>
          <a:xfrm>
            <a:off x="7467600" y="1542305"/>
            <a:ext cx="416052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94A3B8"/>
                </a:solidFill>
                <a:latin typeface="Inter"/>
                <a:ea typeface="Inter"/>
                <a:cs typeface="Inter"/>
                <a:sym typeface="Inter"/>
              </a:rPr>
              <a:t>INSTITUTION</a:t>
            </a:r>
            <a:endParaRPr/>
          </a:p>
        </p:txBody>
      </p:sp>
      <p:sp>
        <p:nvSpPr>
          <p:cNvPr id="90" name="Google Shape;90;p13"/>
          <p:cNvSpPr txBox="1"/>
          <p:nvPr/>
        </p:nvSpPr>
        <p:spPr>
          <a:xfrm>
            <a:off x="7467600" y="1780430"/>
            <a:ext cx="39624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500">
                <a:solidFill>
                  <a:srgbClr val="0F172A"/>
                </a:solidFill>
                <a:latin typeface="Inter Medium"/>
                <a:ea typeface="Inter Medium"/>
                <a:cs typeface="Inter Medium"/>
                <a:sym typeface="Inter Medium"/>
              </a:rPr>
              <a:t>SRM UNIVERSITY AP</a:t>
            </a:r>
            <a:endParaRPr/>
          </a:p>
        </p:txBody>
      </p:sp>
      <p:sp>
        <p:nvSpPr>
          <p:cNvPr id="91" name="Google Shape;91;p13"/>
          <p:cNvSpPr txBox="1"/>
          <p:nvPr/>
        </p:nvSpPr>
        <p:spPr>
          <a:xfrm>
            <a:off x="7467600" y="2561480"/>
            <a:ext cx="416052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94A3B8"/>
                </a:solidFill>
                <a:latin typeface="Inter"/>
                <a:ea typeface="Inter"/>
                <a:cs typeface="Inter"/>
                <a:sym typeface="Inter"/>
              </a:rPr>
              <a:t>TEAM CLOUDNINE</a:t>
            </a:r>
            <a:endParaRPr/>
          </a:p>
        </p:txBody>
      </p:sp>
      <p:sp>
        <p:nvSpPr>
          <p:cNvPr id="92" name="Google Shape;92;p13"/>
          <p:cNvSpPr txBox="1"/>
          <p:nvPr/>
        </p:nvSpPr>
        <p:spPr>
          <a:xfrm>
            <a:off x="7467600" y="2799605"/>
            <a:ext cx="3962400" cy="18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0F172A"/>
                </a:solidFill>
                <a:latin typeface="Inter Medium"/>
                <a:ea typeface="Inter Medium"/>
                <a:cs typeface="Inter Medium"/>
                <a:sym typeface="Inter Medium"/>
              </a:rPr>
              <a:t> </a:t>
            </a:r>
            <a:r>
              <a:rPr lang="en-US" sz="1200">
                <a:solidFill>
                  <a:srgbClr val="475569"/>
                </a:solidFill>
                <a:latin typeface="Inter"/>
                <a:ea typeface="Inter"/>
                <a:cs typeface="Inter"/>
                <a:sym typeface="Inter"/>
              </a:rPr>
              <a:t>SAHIL RASAL - CSE AIML</a:t>
            </a:r>
            <a:endParaRPr/>
          </a:p>
        </p:txBody>
      </p:sp>
      <p:sp>
        <p:nvSpPr>
          <p:cNvPr id="93" name="Google Shape;93;p13"/>
          <p:cNvSpPr txBox="1"/>
          <p:nvPr/>
        </p:nvSpPr>
        <p:spPr>
          <a:xfrm>
            <a:off x="7467600" y="3043386"/>
            <a:ext cx="3962400" cy="18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200">
                <a:solidFill>
                  <a:srgbClr val="0F172A"/>
                </a:solidFill>
                <a:latin typeface="Inter Medium"/>
                <a:ea typeface="Inter Medium"/>
                <a:cs typeface="Inter Medium"/>
                <a:sym typeface="Inter Medium"/>
              </a:rPr>
              <a:t>MAHIP THAKORE- CSE</a:t>
            </a:r>
            <a:endParaRPr/>
          </a:p>
        </p:txBody>
      </p:sp>
      <p:sp>
        <p:nvSpPr>
          <p:cNvPr id="94" name="Google Shape;94;p13"/>
          <p:cNvSpPr txBox="1"/>
          <p:nvPr/>
        </p:nvSpPr>
        <p:spPr>
          <a:xfrm>
            <a:off x="7467600" y="3287166"/>
            <a:ext cx="3962400" cy="18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0F172A"/>
                </a:solidFill>
                <a:latin typeface="Inter Medium"/>
                <a:ea typeface="Inter Medium"/>
                <a:cs typeface="Inter Medium"/>
                <a:sym typeface="Inter Medium"/>
              </a:rPr>
              <a:t>V</a:t>
            </a:r>
            <a:r>
              <a:rPr lang="en-US" sz="1200">
                <a:solidFill>
                  <a:srgbClr val="0F172A"/>
                </a:solidFill>
                <a:latin typeface="Inter Medium"/>
                <a:ea typeface="Inter Medium"/>
                <a:cs typeface="Inter Medium"/>
                <a:sym typeface="Inter Medium"/>
              </a:rPr>
              <a:t>SHASHANT PANDEY- </a:t>
            </a:r>
            <a:r>
              <a:rPr lang="en-US" sz="1200">
                <a:solidFill>
                  <a:srgbClr val="475569"/>
                </a:solidFill>
                <a:latin typeface="Inter"/>
                <a:ea typeface="Inter"/>
                <a:cs typeface="Inter"/>
                <a:sym typeface="Inter"/>
              </a:rPr>
              <a:t>CSE</a:t>
            </a:r>
            <a:endParaRPr/>
          </a:p>
        </p:txBody>
      </p:sp>
      <p:sp>
        <p:nvSpPr>
          <p:cNvPr id="95" name="Google Shape;95;p13"/>
          <p:cNvSpPr txBox="1"/>
          <p:nvPr/>
        </p:nvSpPr>
        <p:spPr>
          <a:xfrm>
            <a:off x="7467600" y="3530947"/>
            <a:ext cx="3962400" cy="18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200">
                <a:solidFill>
                  <a:srgbClr val="0F172A"/>
                </a:solidFill>
                <a:latin typeface="Inter Medium"/>
                <a:ea typeface="Inter Medium"/>
                <a:cs typeface="Inter Medium"/>
                <a:sym typeface="Inter Medium"/>
              </a:rPr>
              <a:t>SUDHIKSHA P - </a:t>
            </a:r>
            <a:r>
              <a:rPr lang="en-US" sz="1200">
                <a:solidFill>
                  <a:srgbClr val="475569"/>
                </a:solidFill>
                <a:latin typeface="Inter"/>
                <a:ea typeface="Inter"/>
                <a:cs typeface="Inter"/>
                <a:sym typeface="Inter"/>
              </a:rPr>
              <a:t>CSE </a:t>
            </a:r>
            <a:endParaRPr/>
          </a:p>
        </p:txBody>
      </p:sp>
      <p:sp>
        <p:nvSpPr>
          <p:cNvPr id="96" name="Google Shape;96;p13"/>
          <p:cNvSpPr txBox="1"/>
          <p:nvPr/>
        </p:nvSpPr>
        <p:spPr>
          <a:xfrm>
            <a:off x="7467600" y="3774727"/>
            <a:ext cx="3962400" cy="18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200">
                <a:solidFill>
                  <a:srgbClr val="0F172A"/>
                </a:solidFill>
                <a:latin typeface="Inter Medium"/>
                <a:ea typeface="Inter Medium"/>
                <a:cs typeface="Inter Medium"/>
                <a:sym typeface="Inter Medium"/>
              </a:rPr>
              <a:t>AKARSH SHARMA - CSE </a:t>
            </a:r>
            <a:endParaRPr/>
          </a:p>
        </p:txBody>
      </p:sp>
      <p:sp>
        <p:nvSpPr>
          <p:cNvPr id="97" name="Google Shape;97;p13"/>
          <p:cNvSpPr txBox="1"/>
          <p:nvPr/>
        </p:nvSpPr>
        <p:spPr>
          <a:xfrm>
            <a:off x="7467600" y="4018508"/>
            <a:ext cx="3962400" cy="18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200">
                <a:solidFill>
                  <a:srgbClr val="0F172A"/>
                </a:solidFill>
                <a:latin typeface="Inter Medium"/>
                <a:ea typeface="Inter Medium"/>
                <a:cs typeface="Inter Medium"/>
                <a:sym typeface="Inter Medium"/>
              </a:rPr>
              <a:t>ANMOL VYAS</a:t>
            </a:r>
            <a:r>
              <a:rPr b="0" i="0" lang="en-US" sz="1200" u="none" cap="none" strike="noStrike">
                <a:solidFill>
                  <a:srgbClr val="475569"/>
                </a:solidFill>
                <a:latin typeface="Inter"/>
                <a:ea typeface="Inter"/>
                <a:cs typeface="Inter"/>
                <a:sym typeface="Inter"/>
              </a:rPr>
              <a:t>— </a:t>
            </a:r>
            <a:r>
              <a:rPr lang="en-US" sz="1200">
                <a:solidFill>
                  <a:srgbClr val="475569"/>
                </a:solidFill>
                <a:latin typeface="Inter"/>
                <a:ea typeface="Inter"/>
                <a:cs typeface="Inter"/>
                <a:sym typeface="Inter"/>
              </a:rPr>
              <a:t>CSE AIML</a:t>
            </a:r>
            <a:endParaRPr/>
          </a:p>
        </p:txBody>
      </p:sp>
      <p:sp>
        <p:nvSpPr>
          <p:cNvPr id="98" name="Google Shape;98;p13"/>
          <p:cNvSpPr txBox="1"/>
          <p:nvPr/>
        </p:nvSpPr>
        <p:spPr>
          <a:xfrm>
            <a:off x="7467600" y="4833788"/>
            <a:ext cx="416052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94A3B8"/>
                </a:solidFill>
                <a:latin typeface="Inter"/>
                <a:ea typeface="Inter"/>
                <a:cs typeface="Inter"/>
                <a:sym typeface="Inter"/>
              </a:rPr>
              <a:t>MENTORS</a:t>
            </a:r>
            <a:endParaRPr/>
          </a:p>
        </p:txBody>
      </p:sp>
      <p:sp>
        <p:nvSpPr>
          <p:cNvPr id="99" name="Google Shape;99;p13"/>
          <p:cNvSpPr txBox="1"/>
          <p:nvPr/>
        </p:nvSpPr>
        <p:spPr>
          <a:xfrm>
            <a:off x="7467600" y="5071913"/>
            <a:ext cx="3962400" cy="18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200">
                <a:solidFill>
                  <a:srgbClr val="0F172A"/>
                </a:solidFill>
                <a:latin typeface="Inter Medium"/>
                <a:ea typeface="Inter Medium"/>
                <a:cs typeface="Inter Medium"/>
                <a:sym typeface="Inter Medium"/>
              </a:rPr>
              <a:t>SAHIL RASAL </a:t>
            </a:r>
            <a:r>
              <a:rPr b="0" i="0" lang="en-US" sz="1200" u="none" cap="none" strike="noStrike">
                <a:solidFill>
                  <a:srgbClr val="475569"/>
                </a:solidFill>
                <a:latin typeface="Inter"/>
                <a:ea typeface="Inter"/>
                <a:cs typeface="Inter"/>
                <a:sym typeface="Inter"/>
              </a:rPr>
              <a:t>— </a:t>
            </a:r>
            <a:r>
              <a:rPr lang="en-US" sz="1200">
                <a:solidFill>
                  <a:srgbClr val="475569"/>
                </a:solidFill>
                <a:latin typeface="Inter"/>
                <a:ea typeface="Inter"/>
                <a:cs typeface="Inter"/>
                <a:sym typeface="Inter"/>
              </a:rPr>
              <a:t>AIML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 name="Shape 103"/>
        <p:cNvGrpSpPr/>
        <p:nvPr/>
      </p:nvGrpSpPr>
      <p:grpSpPr>
        <a:xfrm>
          <a:off x="0" y="0"/>
          <a:ext cx="0" cy="0"/>
          <a:chOff x="0" y="0"/>
          <a:chExt cx="0" cy="0"/>
        </a:xfrm>
      </p:grpSpPr>
      <p:pic>
        <p:nvPicPr>
          <p:cNvPr descr="image.png" id="104" name="Google Shape;104;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5" name="Google Shape;105;p14"/>
          <p:cNvPicPr preferRelativeResize="0"/>
          <p:nvPr/>
        </p:nvPicPr>
        <p:blipFill rotWithShape="1">
          <a:blip r:embed="rId4">
            <a:alphaModFix/>
          </a:blip>
          <a:srcRect b="0" l="0" r="0" t="0"/>
          <a:stretch/>
        </p:blipFill>
        <p:spPr>
          <a:xfrm>
            <a:off x="6381750" y="1409700"/>
            <a:ext cx="5048250" cy="5470624"/>
          </a:xfrm>
          <a:prstGeom prst="rect">
            <a:avLst/>
          </a:prstGeom>
          <a:noFill/>
          <a:ln>
            <a:noFill/>
          </a:ln>
        </p:spPr>
      </p:pic>
      <p:sp>
        <p:nvSpPr>
          <p:cNvPr id="106" name="Google Shape;106;p14"/>
          <p:cNvSpPr txBox="1"/>
          <p:nvPr/>
        </p:nvSpPr>
        <p:spPr>
          <a:xfrm>
            <a:off x="762000" y="571500"/>
            <a:ext cx="11201400" cy="4572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1" i="0" lang="en-US" sz="3000" u="none" cap="none" strike="noStrike">
                <a:solidFill>
                  <a:srgbClr val="0F172A"/>
                </a:solidFill>
                <a:latin typeface="Inter"/>
                <a:ea typeface="Inter"/>
                <a:cs typeface="Inter"/>
                <a:sym typeface="Inter"/>
              </a:rPr>
              <a:t>Problem Understanding</a:t>
            </a:r>
            <a:endParaRPr/>
          </a:p>
        </p:txBody>
      </p:sp>
      <p:sp>
        <p:nvSpPr>
          <p:cNvPr id="107" name="Google Shape;107;p14"/>
          <p:cNvSpPr/>
          <p:nvPr/>
        </p:nvSpPr>
        <p:spPr>
          <a:xfrm>
            <a:off x="762000" y="1028700"/>
            <a:ext cx="57150" cy="304800"/>
          </a:xfrm>
          <a:prstGeom prst="roundRect">
            <a:avLst>
              <a:gd fmla="val 33333" name="adj"/>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 name="Google Shape;108;p14"/>
          <p:cNvSpPr txBox="1"/>
          <p:nvPr/>
        </p:nvSpPr>
        <p:spPr>
          <a:xfrm>
            <a:off x="762000" y="1409700"/>
            <a:ext cx="5048250" cy="1340643"/>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0F172A"/>
                </a:solidFill>
                <a:latin typeface="Inter Medium"/>
                <a:ea typeface="Inter Medium"/>
                <a:cs typeface="Inter Medium"/>
                <a:sym typeface="Inter Medium"/>
              </a:rPr>
              <a:t>Traditional weather models take hours to compute, missing rapid-onset events like flash floods and microbursts within the critical 0-2 hour window.</a:t>
            </a:r>
            <a:endParaRPr/>
          </a:p>
        </p:txBody>
      </p:sp>
      <p:sp>
        <p:nvSpPr>
          <p:cNvPr id="109" name="Google Shape;109;p14"/>
          <p:cNvSpPr txBox="1"/>
          <p:nvPr/>
        </p:nvSpPr>
        <p:spPr>
          <a:xfrm>
            <a:off x="1028700" y="5512593"/>
            <a:ext cx="478155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600" u="none" cap="none" strike="noStrike">
                <a:solidFill>
                  <a:srgbClr val="0F172A"/>
                </a:solidFill>
                <a:latin typeface="Inter ExtraBold"/>
                <a:ea typeface="Inter ExtraBold"/>
                <a:cs typeface="Inter ExtraBold"/>
                <a:sym typeface="Inter ExtraBold"/>
              </a:rPr>
              <a:t>2.5 Crore</a:t>
            </a:r>
            <a:endParaRPr/>
          </a:p>
        </p:txBody>
      </p:sp>
      <p:sp>
        <p:nvSpPr>
          <p:cNvPr id="110" name="Google Shape;110;p14"/>
          <p:cNvSpPr txBox="1"/>
          <p:nvPr/>
        </p:nvSpPr>
        <p:spPr>
          <a:xfrm>
            <a:off x="1028700" y="6045993"/>
            <a:ext cx="47815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Indians face severe daily life or economic disruptions due to unpredicted, sudden weather anomalies.</a:t>
            </a:r>
            <a:endParaRPr/>
          </a:p>
        </p:txBody>
      </p:sp>
      <p:pic>
        <p:nvPicPr>
          <p:cNvPr descr="image.png" id="111" name="Google Shape;111;p14"/>
          <p:cNvPicPr preferRelativeResize="0"/>
          <p:nvPr/>
        </p:nvPicPr>
        <p:blipFill rotWithShape="1">
          <a:blip r:embed="rId5">
            <a:alphaModFix/>
          </a:blip>
          <a:srcRect b="0" l="0" r="0" t="0"/>
          <a:stretch/>
        </p:blipFill>
        <p:spPr>
          <a:xfrm>
            <a:off x="6381750" y="1409700"/>
            <a:ext cx="5048250" cy="5470624"/>
          </a:xfrm>
          <a:prstGeom prst="rect">
            <a:avLst/>
          </a:prstGeom>
          <a:noFill/>
          <a:ln>
            <a:noFill/>
          </a:ln>
        </p:spPr>
      </p:pic>
      <p:sp>
        <p:nvSpPr>
          <p:cNvPr id="112" name="Google Shape;112;p14"/>
          <p:cNvSpPr txBox="1"/>
          <p:nvPr/>
        </p:nvSpPr>
        <p:spPr>
          <a:xfrm>
            <a:off x="990600" y="2940843"/>
            <a:ext cx="48196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The Gap:</a:t>
            </a:r>
            <a:r>
              <a:rPr b="0" i="0" lang="en-US" sz="1500" u="none" cap="none" strike="noStrike">
                <a:solidFill>
                  <a:srgbClr val="475569"/>
                </a:solidFill>
                <a:latin typeface="Inter"/>
                <a:ea typeface="Inter"/>
                <a:cs typeface="Inter"/>
                <a:sym typeface="Inter"/>
              </a:rPr>
              <a:t> Numerical Weather Prediction (NWP) lacks hyper-local (neighborhood) resolution, resulting in warnings arriving *after* disaster strikes.</a:t>
            </a:r>
            <a:endParaRPr/>
          </a:p>
        </p:txBody>
      </p:sp>
      <p:sp>
        <p:nvSpPr>
          <p:cNvPr id="113" name="Google Shape;113;p14"/>
          <p:cNvSpPr txBox="1"/>
          <p:nvPr/>
        </p:nvSpPr>
        <p:spPr>
          <a:xfrm>
            <a:off x="990600" y="4083843"/>
            <a:ext cx="48196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The Affected:</a:t>
            </a:r>
            <a:r>
              <a:rPr b="0" i="0" lang="en-US" sz="1500" u="none" cap="none" strike="noStrike">
                <a:solidFill>
                  <a:srgbClr val="475569"/>
                </a:solidFill>
                <a:latin typeface="Inter"/>
                <a:ea typeface="Inter"/>
                <a:cs typeface="Inter"/>
                <a:sym typeface="Inter"/>
              </a:rPr>
              <a:t> Millions of farmers, daily wage commuters, municipal authorities, and aviation sectors across India.</a:t>
            </a:r>
            <a:endParaRPr/>
          </a:p>
        </p:txBody>
      </p:sp>
      <p:sp>
        <p:nvSpPr>
          <p:cNvPr id="114" name="Google Shape;114;p14"/>
          <p:cNvSpPr txBox="1"/>
          <p:nvPr/>
        </p:nvSpPr>
        <p:spPr>
          <a:xfrm>
            <a:off x="762000" y="2921793"/>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2563EB"/>
                </a:solidFill>
                <a:latin typeface="Inter"/>
                <a:ea typeface="Inter"/>
                <a:cs typeface="Inter"/>
                <a:sym typeface="Inter"/>
              </a:rPr>
              <a:t>•</a:t>
            </a:r>
            <a:endParaRPr/>
          </a:p>
        </p:txBody>
      </p:sp>
      <p:sp>
        <p:nvSpPr>
          <p:cNvPr id="115" name="Google Shape;115;p14"/>
          <p:cNvSpPr txBox="1"/>
          <p:nvPr/>
        </p:nvSpPr>
        <p:spPr>
          <a:xfrm>
            <a:off x="762000" y="4064793"/>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2563EB"/>
                </a:solidFill>
                <a:latin typeface="Inter"/>
                <a:ea typeface="Inter"/>
                <a:cs typeface="Inter"/>
                <a:sym typeface="Inter"/>
              </a:rPr>
              <a:t>•</a:t>
            </a:r>
            <a:endParaRPr/>
          </a:p>
        </p:txBody>
      </p:sp>
      <p:pic>
        <p:nvPicPr>
          <p:cNvPr id="116" name="Google Shape;116;p14" title="images.jpg"/>
          <p:cNvPicPr preferRelativeResize="0"/>
          <p:nvPr/>
        </p:nvPicPr>
        <p:blipFill>
          <a:blip r:embed="rId6">
            <a:alphaModFix/>
          </a:blip>
          <a:stretch>
            <a:fillRect/>
          </a:stretch>
        </p:blipFill>
        <p:spPr>
          <a:xfrm>
            <a:off x="6381750" y="1499200"/>
            <a:ext cx="5048251" cy="5358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 name="Shape 120"/>
        <p:cNvGrpSpPr/>
        <p:nvPr/>
      </p:nvGrpSpPr>
      <p:grpSpPr>
        <a:xfrm>
          <a:off x="0" y="0"/>
          <a:ext cx="0" cy="0"/>
          <a:chOff x="0" y="0"/>
          <a:chExt cx="0" cy="0"/>
        </a:xfrm>
      </p:grpSpPr>
      <p:pic>
        <p:nvPicPr>
          <p:cNvPr descr="image.png" id="121" name="Google Shape;121;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2" name="Google Shape;122;p15"/>
          <p:cNvPicPr preferRelativeResize="0"/>
          <p:nvPr/>
        </p:nvPicPr>
        <p:blipFill rotWithShape="1">
          <a:blip r:embed="rId4">
            <a:alphaModFix/>
          </a:blip>
          <a:srcRect b="0" l="0" r="0" t="0"/>
          <a:stretch/>
        </p:blipFill>
        <p:spPr>
          <a:xfrm>
            <a:off x="762000" y="2712541"/>
            <a:ext cx="10668000" cy="2390775"/>
          </a:xfrm>
          <a:prstGeom prst="rect">
            <a:avLst/>
          </a:prstGeom>
          <a:noFill/>
          <a:ln>
            <a:noFill/>
          </a:ln>
        </p:spPr>
      </p:pic>
      <p:sp>
        <p:nvSpPr>
          <p:cNvPr id="123" name="Google Shape;123;p15"/>
          <p:cNvSpPr txBox="1"/>
          <p:nvPr/>
        </p:nvSpPr>
        <p:spPr>
          <a:xfrm>
            <a:off x="762000" y="571500"/>
            <a:ext cx="11201400" cy="4572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1" i="0" lang="en-US" sz="3000" u="none" cap="none" strike="noStrike">
                <a:solidFill>
                  <a:srgbClr val="0F172A"/>
                </a:solidFill>
                <a:latin typeface="Inter"/>
                <a:ea typeface="Inter"/>
                <a:cs typeface="Inter"/>
                <a:sym typeface="Inter"/>
              </a:rPr>
              <a:t>Proposed Solution</a:t>
            </a:r>
            <a:endParaRPr/>
          </a:p>
        </p:txBody>
      </p:sp>
      <p:sp>
        <p:nvSpPr>
          <p:cNvPr id="124" name="Google Shape;124;p15"/>
          <p:cNvSpPr/>
          <p:nvPr/>
        </p:nvSpPr>
        <p:spPr>
          <a:xfrm>
            <a:off x="762000" y="1028700"/>
            <a:ext cx="57150" cy="304800"/>
          </a:xfrm>
          <a:prstGeom prst="roundRect">
            <a:avLst>
              <a:gd fmla="val 33333" name="adj"/>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5" name="Google Shape;125;p15"/>
          <p:cNvSpPr txBox="1"/>
          <p:nvPr/>
        </p:nvSpPr>
        <p:spPr>
          <a:xfrm>
            <a:off x="762000" y="1409700"/>
            <a:ext cx="10668000" cy="731341"/>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0F172A"/>
                </a:solidFill>
                <a:latin typeface="Inter Medium"/>
                <a:ea typeface="Inter Medium"/>
                <a:cs typeface="Inter Medium"/>
                <a:sym typeface="Inter Medium"/>
              </a:rPr>
              <a:t>A deep learning system that treats radar data as a video prediction problem, generating real-time, hyper-local alerts in seconds, not hours.</a:t>
            </a:r>
            <a:endParaRPr/>
          </a:p>
        </p:txBody>
      </p:sp>
      <p:pic>
        <p:nvPicPr>
          <p:cNvPr descr="image.png" id="126" name="Google Shape;126;p15"/>
          <p:cNvPicPr preferRelativeResize="0"/>
          <p:nvPr/>
        </p:nvPicPr>
        <p:blipFill rotWithShape="1">
          <a:blip r:embed="rId5">
            <a:alphaModFix/>
          </a:blip>
          <a:srcRect b="0" l="0" r="0" t="0"/>
          <a:stretch/>
        </p:blipFill>
        <p:spPr>
          <a:xfrm>
            <a:off x="3426618" y="3793628"/>
            <a:ext cx="200025" cy="228600"/>
          </a:xfrm>
          <a:prstGeom prst="rect">
            <a:avLst/>
          </a:prstGeom>
          <a:noFill/>
          <a:ln>
            <a:noFill/>
          </a:ln>
        </p:spPr>
      </p:pic>
      <p:pic>
        <p:nvPicPr>
          <p:cNvPr descr="image.png" id="127" name="Google Shape;127;p15"/>
          <p:cNvPicPr preferRelativeResize="0"/>
          <p:nvPr/>
        </p:nvPicPr>
        <p:blipFill rotWithShape="1">
          <a:blip r:embed="rId6">
            <a:alphaModFix/>
          </a:blip>
          <a:srcRect b="0" l="0" r="0" t="0"/>
          <a:stretch/>
        </p:blipFill>
        <p:spPr>
          <a:xfrm>
            <a:off x="5995987" y="3793628"/>
            <a:ext cx="200025" cy="228600"/>
          </a:xfrm>
          <a:prstGeom prst="rect">
            <a:avLst/>
          </a:prstGeom>
          <a:noFill/>
          <a:ln>
            <a:noFill/>
          </a:ln>
        </p:spPr>
      </p:pic>
      <p:pic>
        <p:nvPicPr>
          <p:cNvPr descr="image.png" id="128" name="Google Shape;128;p15"/>
          <p:cNvPicPr preferRelativeResize="0"/>
          <p:nvPr/>
        </p:nvPicPr>
        <p:blipFill rotWithShape="1">
          <a:blip r:embed="rId6">
            <a:alphaModFix/>
          </a:blip>
          <a:srcRect b="0" l="0" r="0" t="0"/>
          <a:stretch/>
        </p:blipFill>
        <p:spPr>
          <a:xfrm>
            <a:off x="8565356" y="3793628"/>
            <a:ext cx="200025" cy="228600"/>
          </a:xfrm>
          <a:prstGeom prst="rect">
            <a:avLst/>
          </a:prstGeom>
          <a:noFill/>
          <a:ln>
            <a:noFill/>
          </a:ln>
        </p:spPr>
      </p:pic>
      <p:sp>
        <p:nvSpPr>
          <p:cNvPr id="129" name="Google Shape;129;p15"/>
          <p:cNvSpPr txBox="1"/>
          <p:nvPr/>
        </p:nvSpPr>
        <p:spPr>
          <a:xfrm>
            <a:off x="952500" y="5674816"/>
            <a:ext cx="10287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F172A"/>
                </a:solidFill>
                <a:latin typeface="Inter SemiBold"/>
                <a:ea typeface="Inter SemiBold"/>
                <a:cs typeface="Inter SemiBold"/>
                <a:sym typeface="Inter SemiBold"/>
              </a:rPr>
              <a:t>Key Differentiator:</a:t>
            </a:r>
            <a:r>
              <a:rPr b="0" i="0" lang="en-US" sz="1350" u="none" cap="none" strike="noStrike">
                <a:solidFill>
                  <a:srgbClr val="475569"/>
                </a:solidFill>
                <a:latin typeface="Inter"/>
                <a:ea typeface="Inter"/>
                <a:cs typeface="Inter"/>
                <a:sym typeface="Inter"/>
              </a:rPr>
              <a:t> Unlike broad polygon warnings, our system utilizes a micro-grid approach (1km x 1km) to prevent public "alert fatigue" and provides predictions in under 3 seconds.</a:t>
            </a:r>
            <a:endParaRPr/>
          </a:p>
        </p:txBody>
      </p:sp>
      <p:pic>
        <p:nvPicPr>
          <p:cNvPr descr="image.png" id="130" name="Google Shape;130;p15"/>
          <p:cNvPicPr preferRelativeResize="0"/>
          <p:nvPr/>
        </p:nvPicPr>
        <p:blipFill rotWithShape="1">
          <a:blip r:embed="rId7">
            <a:alphaModFix/>
          </a:blip>
          <a:srcRect b="0" l="0" r="0" t="0"/>
          <a:stretch/>
        </p:blipFill>
        <p:spPr>
          <a:xfrm>
            <a:off x="1937146" y="3103066"/>
            <a:ext cx="609600" cy="609600"/>
          </a:xfrm>
          <a:prstGeom prst="rect">
            <a:avLst/>
          </a:prstGeom>
          <a:noFill/>
          <a:ln>
            <a:noFill/>
          </a:ln>
        </p:spPr>
      </p:pic>
      <p:sp>
        <p:nvSpPr>
          <p:cNvPr id="131" name="Google Shape;131;p15"/>
          <p:cNvSpPr txBox="1"/>
          <p:nvPr/>
        </p:nvSpPr>
        <p:spPr>
          <a:xfrm>
            <a:off x="1098053" y="3865066"/>
            <a:ext cx="2287785"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F172A"/>
                </a:solidFill>
                <a:latin typeface="Inter"/>
                <a:ea typeface="Inter"/>
                <a:cs typeface="Inter"/>
                <a:sym typeface="Inter"/>
              </a:rPr>
              <a:t>1. Ingest</a:t>
            </a:r>
            <a:endParaRPr/>
          </a:p>
        </p:txBody>
      </p:sp>
      <p:sp>
        <p:nvSpPr>
          <p:cNvPr id="132" name="Google Shape;132;p15"/>
          <p:cNvSpPr txBox="1"/>
          <p:nvPr/>
        </p:nvSpPr>
        <p:spPr>
          <a:xfrm>
            <a:off x="1152525" y="4255591"/>
            <a:ext cx="2178843" cy="457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125" u="none" cap="none" strike="noStrike">
                <a:solidFill>
                  <a:srgbClr val="475569"/>
                </a:solidFill>
                <a:latin typeface="Inter"/>
                <a:ea typeface="Inter"/>
                <a:cs typeface="Inter"/>
                <a:sym typeface="Inter"/>
              </a:rPr>
              <a:t>IMD Radar &amp; Satellite feeds (NetCDF format)</a:t>
            </a:r>
            <a:endParaRPr/>
          </a:p>
        </p:txBody>
      </p:sp>
      <p:pic>
        <p:nvPicPr>
          <p:cNvPr descr="image.png" id="133" name="Google Shape;133;p15"/>
          <p:cNvPicPr preferRelativeResize="0"/>
          <p:nvPr/>
        </p:nvPicPr>
        <p:blipFill rotWithShape="1">
          <a:blip r:embed="rId8">
            <a:alphaModFix/>
          </a:blip>
          <a:srcRect b="0" l="0" r="0" t="0"/>
          <a:stretch/>
        </p:blipFill>
        <p:spPr>
          <a:xfrm>
            <a:off x="4506515" y="3103066"/>
            <a:ext cx="609600" cy="609600"/>
          </a:xfrm>
          <a:prstGeom prst="rect">
            <a:avLst/>
          </a:prstGeom>
          <a:noFill/>
          <a:ln>
            <a:noFill/>
          </a:ln>
        </p:spPr>
      </p:pic>
      <p:sp>
        <p:nvSpPr>
          <p:cNvPr id="134" name="Google Shape;134;p15"/>
          <p:cNvSpPr txBox="1"/>
          <p:nvPr/>
        </p:nvSpPr>
        <p:spPr>
          <a:xfrm>
            <a:off x="3667422" y="3865066"/>
            <a:ext cx="2287785"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F172A"/>
                </a:solidFill>
                <a:latin typeface="Inter"/>
                <a:ea typeface="Inter"/>
                <a:cs typeface="Inter"/>
                <a:sym typeface="Inter"/>
              </a:rPr>
              <a:t>2. Predict</a:t>
            </a:r>
            <a:endParaRPr/>
          </a:p>
        </p:txBody>
      </p:sp>
      <p:sp>
        <p:nvSpPr>
          <p:cNvPr id="135" name="Google Shape;135;p15"/>
          <p:cNvSpPr txBox="1"/>
          <p:nvPr/>
        </p:nvSpPr>
        <p:spPr>
          <a:xfrm>
            <a:off x="3721893" y="4255591"/>
            <a:ext cx="2178843" cy="457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125" u="none" cap="none" strike="noStrike">
                <a:solidFill>
                  <a:srgbClr val="475569"/>
                </a:solidFill>
                <a:latin typeface="Inter"/>
                <a:ea typeface="Inter"/>
                <a:cs typeface="Inter"/>
                <a:sym typeface="Inter"/>
              </a:rPr>
              <a:t>ConvLSTM AI model extrapolates 120-min trajectory</a:t>
            </a:r>
            <a:endParaRPr/>
          </a:p>
        </p:txBody>
      </p:sp>
      <p:pic>
        <p:nvPicPr>
          <p:cNvPr descr="image.png" id="136" name="Google Shape;136;p15"/>
          <p:cNvPicPr preferRelativeResize="0"/>
          <p:nvPr/>
        </p:nvPicPr>
        <p:blipFill rotWithShape="1">
          <a:blip r:embed="rId9">
            <a:alphaModFix/>
          </a:blip>
          <a:srcRect b="0" l="0" r="0" t="0"/>
          <a:stretch/>
        </p:blipFill>
        <p:spPr>
          <a:xfrm>
            <a:off x="7075884" y="3103066"/>
            <a:ext cx="609600" cy="609600"/>
          </a:xfrm>
          <a:prstGeom prst="rect">
            <a:avLst/>
          </a:prstGeom>
          <a:noFill/>
          <a:ln>
            <a:noFill/>
          </a:ln>
        </p:spPr>
      </p:pic>
      <p:sp>
        <p:nvSpPr>
          <p:cNvPr id="137" name="Google Shape;137;p15"/>
          <p:cNvSpPr txBox="1"/>
          <p:nvPr/>
        </p:nvSpPr>
        <p:spPr>
          <a:xfrm>
            <a:off x="6236791" y="3865066"/>
            <a:ext cx="2287785"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F172A"/>
                </a:solidFill>
                <a:latin typeface="Inter"/>
                <a:ea typeface="Inter"/>
                <a:cs typeface="Inter"/>
                <a:sym typeface="Inter"/>
              </a:rPr>
              <a:t>3. Overlay</a:t>
            </a:r>
            <a:endParaRPr/>
          </a:p>
        </p:txBody>
      </p:sp>
      <p:sp>
        <p:nvSpPr>
          <p:cNvPr id="138" name="Google Shape;138;p15"/>
          <p:cNvSpPr txBox="1"/>
          <p:nvPr/>
        </p:nvSpPr>
        <p:spPr>
          <a:xfrm>
            <a:off x="6291262" y="4255591"/>
            <a:ext cx="2178843" cy="457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125" u="none" cap="none" strike="noStrike">
                <a:solidFill>
                  <a:srgbClr val="475569"/>
                </a:solidFill>
                <a:latin typeface="Inter"/>
                <a:ea typeface="Inter"/>
                <a:cs typeface="Inter"/>
                <a:sym typeface="Inter"/>
              </a:rPr>
              <a:t>Cross-reference with topographical risk data</a:t>
            </a:r>
            <a:endParaRPr/>
          </a:p>
        </p:txBody>
      </p:sp>
      <p:pic>
        <p:nvPicPr>
          <p:cNvPr descr="image.png" id="139" name="Google Shape;139;p15"/>
          <p:cNvPicPr preferRelativeResize="0"/>
          <p:nvPr/>
        </p:nvPicPr>
        <p:blipFill rotWithShape="1">
          <a:blip r:embed="rId10">
            <a:alphaModFix/>
          </a:blip>
          <a:srcRect b="0" l="0" r="0" t="0"/>
          <a:stretch/>
        </p:blipFill>
        <p:spPr>
          <a:xfrm>
            <a:off x="9645253" y="3103066"/>
            <a:ext cx="609600" cy="609600"/>
          </a:xfrm>
          <a:prstGeom prst="rect">
            <a:avLst/>
          </a:prstGeom>
          <a:noFill/>
          <a:ln>
            <a:noFill/>
          </a:ln>
        </p:spPr>
      </p:pic>
      <p:sp>
        <p:nvSpPr>
          <p:cNvPr id="140" name="Google Shape;140;p15"/>
          <p:cNvSpPr txBox="1"/>
          <p:nvPr/>
        </p:nvSpPr>
        <p:spPr>
          <a:xfrm>
            <a:off x="8806160" y="3865066"/>
            <a:ext cx="2287785"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F172A"/>
                </a:solidFill>
                <a:latin typeface="Inter"/>
                <a:ea typeface="Inter"/>
                <a:cs typeface="Inter"/>
                <a:sym typeface="Inter"/>
              </a:rPr>
              <a:t>4. Alert</a:t>
            </a:r>
            <a:endParaRPr/>
          </a:p>
        </p:txBody>
      </p:sp>
      <p:sp>
        <p:nvSpPr>
          <p:cNvPr id="141" name="Google Shape;141;p15"/>
          <p:cNvSpPr txBox="1"/>
          <p:nvPr/>
        </p:nvSpPr>
        <p:spPr>
          <a:xfrm>
            <a:off x="8860631" y="4255591"/>
            <a:ext cx="2178843" cy="457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125" u="none" cap="none" strike="noStrike">
                <a:solidFill>
                  <a:srgbClr val="475569"/>
                </a:solidFill>
                <a:latin typeface="Inter"/>
                <a:ea typeface="Inter"/>
                <a:cs typeface="Inter"/>
                <a:sym typeface="Inter"/>
              </a:rPr>
              <a:t>Geofenced push &amp; SMS alerts to affected area</a:t>
            </a:r>
            <a:endParaRPr/>
          </a:p>
        </p:txBody>
      </p:sp>
      <p:pic>
        <p:nvPicPr>
          <p:cNvPr descr="image.png" id="142" name="Google Shape;142;p15"/>
          <p:cNvPicPr preferRelativeResize="0"/>
          <p:nvPr/>
        </p:nvPicPr>
        <p:blipFill rotWithShape="1">
          <a:blip r:embed="rId11">
            <a:alphaModFix/>
          </a:blip>
          <a:srcRect b="0" l="0" r="0" t="0"/>
          <a:stretch/>
        </p:blipFill>
        <p:spPr>
          <a:xfrm>
            <a:off x="2127646" y="3293566"/>
            <a:ext cx="228600" cy="228600"/>
          </a:xfrm>
          <a:prstGeom prst="rect">
            <a:avLst/>
          </a:prstGeom>
          <a:noFill/>
          <a:ln>
            <a:noFill/>
          </a:ln>
        </p:spPr>
      </p:pic>
      <p:pic>
        <p:nvPicPr>
          <p:cNvPr descr="image.png" id="143" name="Google Shape;143;p15"/>
          <p:cNvPicPr preferRelativeResize="0"/>
          <p:nvPr/>
        </p:nvPicPr>
        <p:blipFill rotWithShape="1">
          <a:blip r:embed="rId12">
            <a:alphaModFix/>
          </a:blip>
          <a:srcRect b="0" l="0" r="0" t="0"/>
          <a:stretch/>
        </p:blipFill>
        <p:spPr>
          <a:xfrm>
            <a:off x="4697015" y="3293566"/>
            <a:ext cx="228600" cy="228600"/>
          </a:xfrm>
          <a:prstGeom prst="rect">
            <a:avLst/>
          </a:prstGeom>
          <a:noFill/>
          <a:ln>
            <a:noFill/>
          </a:ln>
        </p:spPr>
      </p:pic>
      <p:pic>
        <p:nvPicPr>
          <p:cNvPr descr="image.png" id="144" name="Google Shape;144;p15"/>
          <p:cNvPicPr preferRelativeResize="0"/>
          <p:nvPr/>
        </p:nvPicPr>
        <p:blipFill rotWithShape="1">
          <a:blip r:embed="rId13">
            <a:alphaModFix/>
          </a:blip>
          <a:srcRect b="0" l="0" r="0" t="0"/>
          <a:stretch/>
        </p:blipFill>
        <p:spPr>
          <a:xfrm>
            <a:off x="7252096" y="3293566"/>
            <a:ext cx="257175" cy="228600"/>
          </a:xfrm>
          <a:prstGeom prst="rect">
            <a:avLst/>
          </a:prstGeom>
          <a:noFill/>
          <a:ln>
            <a:noFill/>
          </a:ln>
        </p:spPr>
      </p:pic>
      <p:pic>
        <p:nvPicPr>
          <p:cNvPr descr="image.png" id="145" name="Google Shape;145;p15"/>
          <p:cNvPicPr preferRelativeResize="0"/>
          <p:nvPr/>
        </p:nvPicPr>
        <p:blipFill rotWithShape="1">
          <a:blip r:embed="rId14">
            <a:alphaModFix/>
          </a:blip>
          <a:srcRect b="0" l="0" r="0" t="0"/>
          <a:stretch/>
        </p:blipFill>
        <p:spPr>
          <a:xfrm>
            <a:off x="9850040" y="3293566"/>
            <a:ext cx="200025" cy="228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pic>
        <p:nvPicPr>
          <p:cNvPr descr="image.png" id="150" name="Google Shape;150;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1" name="Google Shape;151;p16"/>
          <p:cNvPicPr preferRelativeResize="0"/>
          <p:nvPr/>
        </p:nvPicPr>
        <p:blipFill rotWithShape="1">
          <a:blip r:embed="rId4">
            <a:alphaModFix/>
          </a:blip>
          <a:srcRect b="0" l="0" r="0" t="0"/>
          <a:stretch/>
        </p:blipFill>
        <p:spPr>
          <a:xfrm>
            <a:off x="762000" y="1409700"/>
            <a:ext cx="5143500" cy="4333875"/>
          </a:xfrm>
          <a:prstGeom prst="rect">
            <a:avLst/>
          </a:prstGeom>
          <a:noFill/>
          <a:ln>
            <a:noFill/>
          </a:ln>
        </p:spPr>
      </p:pic>
      <p:pic>
        <p:nvPicPr>
          <p:cNvPr descr="image.png" id="152" name="Google Shape;152;p16"/>
          <p:cNvPicPr preferRelativeResize="0"/>
          <p:nvPr/>
        </p:nvPicPr>
        <p:blipFill rotWithShape="1">
          <a:blip r:embed="rId4">
            <a:alphaModFix/>
          </a:blip>
          <a:srcRect b="0" l="0" r="0" t="0"/>
          <a:stretch/>
        </p:blipFill>
        <p:spPr>
          <a:xfrm>
            <a:off x="6286500" y="1409700"/>
            <a:ext cx="5143500" cy="4333875"/>
          </a:xfrm>
          <a:prstGeom prst="rect">
            <a:avLst/>
          </a:prstGeom>
          <a:noFill/>
          <a:ln>
            <a:noFill/>
          </a:ln>
        </p:spPr>
      </p:pic>
      <p:sp>
        <p:nvSpPr>
          <p:cNvPr id="153" name="Google Shape;153;p16"/>
          <p:cNvSpPr txBox="1"/>
          <p:nvPr/>
        </p:nvSpPr>
        <p:spPr>
          <a:xfrm>
            <a:off x="762000" y="571500"/>
            <a:ext cx="11201400" cy="4572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1" i="0" lang="en-US" sz="3000" u="none" cap="none" strike="noStrike">
                <a:solidFill>
                  <a:srgbClr val="0F172A"/>
                </a:solidFill>
                <a:latin typeface="Inter"/>
                <a:ea typeface="Inter"/>
                <a:cs typeface="Inter"/>
                <a:sym typeface="Inter"/>
              </a:rPr>
              <a:t>Technical Architecture</a:t>
            </a:r>
            <a:endParaRPr/>
          </a:p>
        </p:txBody>
      </p:sp>
      <p:sp>
        <p:nvSpPr>
          <p:cNvPr id="154" name="Google Shape;154;p16"/>
          <p:cNvSpPr/>
          <p:nvPr/>
        </p:nvSpPr>
        <p:spPr>
          <a:xfrm>
            <a:off x="762000" y="1028700"/>
            <a:ext cx="57150" cy="304800"/>
          </a:xfrm>
          <a:prstGeom prst="roundRect">
            <a:avLst>
              <a:gd fmla="val 33333" name="adj"/>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5" name="Google Shape;155;p16"/>
          <p:cNvSpPr txBox="1"/>
          <p:nvPr/>
        </p:nvSpPr>
        <p:spPr>
          <a:xfrm>
            <a:off x="762000" y="1619250"/>
            <a:ext cx="540067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Inter"/>
                <a:ea typeface="Inter"/>
                <a:cs typeface="Inter"/>
                <a:sym typeface="Inter"/>
              </a:rPr>
              <a:t>Core Tech Stack</a:t>
            </a:r>
            <a:endParaRPr/>
          </a:p>
        </p:txBody>
      </p:sp>
      <p:sp>
        <p:nvSpPr>
          <p:cNvPr id="156" name="Google Shape;156;p16"/>
          <p:cNvSpPr txBox="1"/>
          <p:nvPr/>
        </p:nvSpPr>
        <p:spPr>
          <a:xfrm>
            <a:off x="6286500" y="1619250"/>
            <a:ext cx="540067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Inter"/>
                <a:ea typeface="Inter"/>
                <a:cs typeface="Inter"/>
                <a:sym typeface="Inter"/>
              </a:rPr>
              <a:t>Data Flow &amp; APIs</a:t>
            </a:r>
            <a:endParaRPr/>
          </a:p>
        </p:txBody>
      </p:sp>
      <p:sp>
        <p:nvSpPr>
          <p:cNvPr id="157" name="Google Shape;157;p16"/>
          <p:cNvSpPr txBox="1"/>
          <p:nvPr/>
        </p:nvSpPr>
        <p:spPr>
          <a:xfrm>
            <a:off x="990600" y="2085975"/>
            <a:ext cx="49149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AI / Model Training:</a:t>
            </a:r>
            <a:r>
              <a:rPr b="0" i="0" lang="en-US" sz="1500" u="none" cap="none" strike="noStrike">
                <a:solidFill>
                  <a:srgbClr val="475569"/>
                </a:solidFill>
                <a:latin typeface="Inter"/>
                <a:ea typeface="Inter"/>
                <a:cs typeface="Inter"/>
                <a:sym typeface="Inter"/>
              </a:rPr>
              <a:t> Python, PyTorch, ConvLSTM networks, and Deep Generative Models of Radar (DGMR).</a:t>
            </a:r>
            <a:endParaRPr/>
          </a:p>
        </p:txBody>
      </p:sp>
      <p:sp>
        <p:nvSpPr>
          <p:cNvPr id="158" name="Google Shape;158;p16"/>
          <p:cNvSpPr txBox="1"/>
          <p:nvPr/>
        </p:nvSpPr>
        <p:spPr>
          <a:xfrm>
            <a:off x="990600" y="3228975"/>
            <a:ext cx="49149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Backend Infrastructure:</a:t>
            </a:r>
            <a:r>
              <a:rPr b="0" i="0" lang="en-US" sz="1500" u="none" cap="none" strike="noStrike">
                <a:solidFill>
                  <a:srgbClr val="475569"/>
                </a:solidFill>
                <a:latin typeface="Inter"/>
                <a:ea typeface="Inter"/>
                <a:cs typeface="Inter"/>
                <a:sym typeface="Inter"/>
              </a:rPr>
              <a:t> FastAPI for high-speed model serving, PostgreSQL (PostGIS) for spatial data.</a:t>
            </a:r>
            <a:endParaRPr/>
          </a:p>
        </p:txBody>
      </p:sp>
      <p:sp>
        <p:nvSpPr>
          <p:cNvPr id="159" name="Google Shape;159;p16"/>
          <p:cNvSpPr txBox="1"/>
          <p:nvPr/>
        </p:nvSpPr>
        <p:spPr>
          <a:xfrm>
            <a:off x="990600" y="4067175"/>
            <a:ext cx="49149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Frontend / Dashboard:</a:t>
            </a:r>
            <a:r>
              <a:rPr b="0" i="0" lang="en-US" sz="1500" u="none" cap="none" strike="noStrike">
                <a:solidFill>
                  <a:srgbClr val="475569"/>
                </a:solidFill>
                <a:latin typeface="Inter"/>
                <a:ea typeface="Inter"/>
                <a:cs typeface="Inter"/>
                <a:sym typeface="Inter"/>
              </a:rPr>
              <a:t> React.js with Mapbox GL for smooth, real-time weather rendering.</a:t>
            </a:r>
            <a:endParaRPr/>
          </a:p>
        </p:txBody>
      </p:sp>
      <p:sp>
        <p:nvSpPr>
          <p:cNvPr id="160" name="Google Shape;160;p16"/>
          <p:cNvSpPr txBox="1"/>
          <p:nvPr/>
        </p:nvSpPr>
        <p:spPr>
          <a:xfrm>
            <a:off x="990600" y="4905375"/>
            <a:ext cx="49149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Cloud &amp; Deployment:</a:t>
            </a:r>
            <a:r>
              <a:rPr b="0" i="0" lang="en-US" sz="1500" u="none" cap="none" strike="noStrike">
                <a:solidFill>
                  <a:srgbClr val="475569"/>
                </a:solidFill>
                <a:latin typeface="Inter"/>
                <a:ea typeface="Inter"/>
                <a:cs typeface="Inter"/>
                <a:sym typeface="Inter"/>
              </a:rPr>
              <a:t> Dockerized containers deployed on AWS EC2, with Redis for caching.</a:t>
            </a:r>
            <a:endParaRPr/>
          </a:p>
        </p:txBody>
      </p:sp>
      <p:sp>
        <p:nvSpPr>
          <p:cNvPr id="161" name="Google Shape;161;p16"/>
          <p:cNvSpPr txBox="1"/>
          <p:nvPr/>
        </p:nvSpPr>
        <p:spPr>
          <a:xfrm>
            <a:off x="6515100" y="2085975"/>
            <a:ext cx="49149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Input APIs:</a:t>
            </a:r>
            <a:r>
              <a:rPr b="0" i="0" lang="en-US" sz="1500" u="none" cap="none" strike="noStrike">
                <a:solidFill>
                  <a:srgbClr val="475569"/>
                </a:solidFill>
                <a:latin typeface="Inter"/>
                <a:ea typeface="Inter"/>
                <a:cs typeface="Inter"/>
                <a:sym typeface="Inter"/>
              </a:rPr>
              <a:t> Scraping/parsing live feeds from the IMD Open Data Portal and INSAT-3D APIs.</a:t>
            </a:r>
            <a:endParaRPr/>
          </a:p>
        </p:txBody>
      </p:sp>
      <p:sp>
        <p:nvSpPr>
          <p:cNvPr id="162" name="Google Shape;162;p16"/>
          <p:cNvSpPr txBox="1"/>
          <p:nvPr/>
        </p:nvSpPr>
        <p:spPr>
          <a:xfrm>
            <a:off x="6515100" y="2924175"/>
            <a:ext cx="49149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Processing:</a:t>
            </a:r>
            <a:r>
              <a:rPr b="0" i="0" lang="en-US" sz="1500" u="none" cap="none" strike="noStrike">
                <a:solidFill>
                  <a:srgbClr val="475569"/>
                </a:solidFill>
                <a:latin typeface="Inter"/>
                <a:ea typeface="Inter"/>
                <a:cs typeface="Inter"/>
                <a:sym typeface="Inter"/>
              </a:rPr>
              <a:t> Data is normalized; AI generates predicted radar reflectivity frames (dBZ).</a:t>
            </a:r>
            <a:endParaRPr/>
          </a:p>
        </p:txBody>
      </p:sp>
      <p:sp>
        <p:nvSpPr>
          <p:cNvPr id="163" name="Google Shape;163;p16"/>
          <p:cNvSpPr txBox="1"/>
          <p:nvPr/>
        </p:nvSpPr>
        <p:spPr>
          <a:xfrm>
            <a:off x="6515100" y="3762375"/>
            <a:ext cx="49149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Threshold Engine:</a:t>
            </a:r>
            <a:r>
              <a:rPr b="0" i="0" lang="en-US" sz="1500" u="none" cap="none" strike="noStrike">
                <a:solidFill>
                  <a:srgbClr val="475569"/>
                </a:solidFill>
                <a:latin typeface="Inter"/>
                <a:ea typeface="Inter"/>
                <a:cs typeface="Inter"/>
                <a:sym typeface="Inter"/>
              </a:rPr>
              <a:t> Logic layer determines if the predicted rain/wind breaches local vulnerability limits.</a:t>
            </a:r>
            <a:endParaRPr/>
          </a:p>
        </p:txBody>
      </p:sp>
      <p:sp>
        <p:nvSpPr>
          <p:cNvPr id="164" name="Google Shape;164;p16"/>
          <p:cNvSpPr txBox="1"/>
          <p:nvPr/>
        </p:nvSpPr>
        <p:spPr>
          <a:xfrm>
            <a:off x="6515100" y="4600575"/>
            <a:ext cx="49149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Output APIs:</a:t>
            </a:r>
            <a:r>
              <a:rPr b="0" i="0" lang="en-US" sz="1500" u="none" cap="none" strike="noStrike">
                <a:solidFill>
                  <a:srgbClr val="475569"/>
                </a:solidFill>
                <a:latin typeface="Inter"/>
                <a:ea typeface="Inter"/>
                <a:cs typeface="Inter"/>
                <a:sym typeface="Inter"/>
              </a:rPr>
              <a:t> Triggers Twilio/Msg91 APIs to dispatch targeted SMS to specific cell towers.</a:t>
            </a:r>
            <a:endParaRPr/>
          </a:p>
        </p:txBody>
      </p:sp>
      <p:sp>
        <p:nvSpPr>
          <p:cNvPr id="165" name="Google Shape;165;p16"/>
          <p:cNvSpPr txBox="1"/>
          <p:nvPr/>
        </p:nvSpPr>
        <p:spPr>
          <a:xfrm>
            <a:off x="762000" y="2066925"/>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2563EB"/>
                </a:solidFill>
                <a:latin typeface="Inter"/>
                <a:ea typeface="Inter"/>
                <a:cs typeface="Inter"/>
                <a:sym typeface="Inter"/>
              </a:rPr>
              <a:t>•</a:t>
            </a:r>
            <a:endParaRPr/>
          </a:p>
        </p:txBody>
      </p:sp>
      <p:sp>
        <p:nvSpPr>
          <p:cNvPr id="166" name="Google Shape;166;p16"/>
          <p:cNvSpPr txBox="1"/>
          <p:nvPr/>
        </p:nvSpPr>
        <p:spPr>
          <a:xfrm>
            <a:off x="762000" y="3209925"/>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2563EB"/>
                </a:solidFill>
                <a:latin typeface="Inter"/>
                <a:ea typeface="Inter"/>
                <a:cs typeface="Inter"/>
                <a:sym typeface="Inter"/>
              </a:rPr>
              <a:t>•</a:t>
            </a:r>
            <a:endParaRPr/>
          </a:p>
        </p:txBody>
      </p:sp>
      <p:sp>
        <p:nvSpPr>
          <p:cNvPr id="167" name="Google Shape;167;p16"/>
          <p:cNvSpPr txBox="1"/>
          <p:nvPr/>
        </p:nvSpPr>
        <p:spPr>
          <a:xfrm>
            <a:off x="762000" y="4048125"/>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2563EB"/>
                </a:solidFill>
                <a:latin typeface="Inter"/>
                <a:ea typeface="Inter"/>
                <a:cs typeface="Inter"/>
                <a:sym typeface="Inter"/>
              </a:rPr>
              <a:t>•</a:t>
            </a:r>
            <a:endParaRPr/>
          </a:p>
        </p:txBody>
      </p:sp>
      <p:sp>
        <p:nvSpPr>
          <p:cNvPr id="168" name="Google Shape;168;p16"/>
          <p:cNvSpPr txBox="1"/>
          <p:nvPr/>
        </p:nvSpPr>
        <p:spPr>
          <a:xfrm>
            <a:off x="762000" y="4886325"/>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2563EB"/>
                </a:solidFill>
                <a:latin typeface="Inter"/>
                <a:ea typeface="Inter"/>
                <a:cs typeface="Inter"/>
                <a:sym typeface="Inter"/>
              </a:rPr>
              <a:t>•</a:t>
            </a:r>
            <a:endParaRPr/>
          </a:p>
        </p:txBody>
      </p:sp>
      <p:sp>
        <p:nvSpPr>
          <p:cNvPr id="169" name="Google Shape;169;p16"/>
          <p:cNvSpPr txBox="1"/>
          <p:nvPr/>
        </p:nvSpPr>
        <p:spPr>
          <a:xfrm>
            <a:off x="6286500" y="2066925"/>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2563EB"/>
                </a:solidFill>
                <a:latin typeface="Inter"/>
                <a:ea typeface="Inter"/>
                <a:cs typeface="Inter"/>
                <a:sym typeface="Inter"/>
              </a:rPr>
              <a:t>•</a:t>
            </a:r>
            <a:endParaRPr/>
          </a:p>
        </p:txBody>
      </p:sp>
      <p:sp>
        <p:nvSpPr>
          <p:cNvPr id="170" name="Google Shape;170;p16"/>
          <p:cNvSpPr txBox="1"/>
          <p:nvPr/>
        </p:nvSpPr>
        <p:spPr>
          <a:xfrm>
            <a:off x="6286500" y="2905125"/>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2563EB"/>
                </a:solidFill>
                <a:latin typeface="Inter"/>
                <a:ea typeface="Inter"/>
                <a:cs typeface="Inter"/>
                <a:sym typeface="Inter"/>
              </a:rPr>
              <a:t>•</a:t>
            </a:r>
            <a:endParaRPr/>
          </a:p>
        </p:txBody>
      </p:sp>
      <p:sp>
        <p:nvSpPr>
          <p:cNvPr id="171" name="Google Shape;171;p16"/>
          <p:cNvSpPr txBox="1"/>
          <p:nvPr/>
        </p:nvSpPr>
        <p:spPr>
          <a:xfrm>
            <a:off x="6286500" y="3743325"/>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2563EB"/>
                </a:solidFill>
                <a:latin typeface="Inter"/>
                <a:ea typeface="Inter"/>
                <a:cs typeface="Inter"/>
                <a:sym typeface="Inter"/>
              </a:rPr>
              <a:t>•</a:t>
            </a:r>
            <a:endParaRPr/>
          </a:p>
        </p:txBody>
      </p:sp>
      <p:sp>
        <p:nvSpPr>
          <p:cNvPr id="172" name="Google Shape;172;p16"/>
          <p:cNvSpPr txBox="1"/>
          <p:nvPr/>
        </p:nvSpPr>
        <p:spPr>
          <a:xfrm>
            <a:off x="6286500" y="4581525"/>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2563EB"/>
                </a:solidFill>
                <a:latin typeface="Inter"/>
                <a:ea typeface="Inter"/>
                <a:cs typeface="Inter"/>
                <a:sym typeface="Inter"/>
              </a:rPr>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 name="Shape 176"/>
        <p:cNvGrpSpPr/>
        <p:nvPr/>
      </p:nvGrpSpPr>
      <p:grpSpPr>
        <a:xfrm>
          <a:off x="0" y="0"/>
          <a:ext cx="0" cy="0"/>
          <a:chOff x="0" y="0"/>
          <a:chExt cx="0" cy="0"/>
        </a:xfrm>
      </p:grpSpPr>
      <p:pic>
        <p:nvPicPr>
          <p:cNvPr descr="image.png" id="177" name="Google Shape;177;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78" name="Google Shape;178;p17"/>
          <p:cNvSpPr txBox="1"/>
          <p:nvPr/>
        </p:nvSpPr>
        <p:spPr>
          <a:xfrm>
            <a:off x="1080975" y="876300"/>
            <a:ext cx="112014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1" i="0" lang="en-US" sz="3000" u="none" cap="none" strike="noStrike">
                <a:solidFill>
                  <a:srgbClr val="0F172A"/>
                </a:solidFill>
                <a:latin typeface="Inter"/>
                <a:ea typeface="Inter"/>
                <a:cs typeface="Inter"/>
                <a:sym typeface="Inter"/>
              </a:rPr>
              <a:t>Innovation &amp; Novelty</a:t>
            </a:r>
            <a:endParaRPr/>
          </a:p>
        </p:txBody>
      </p:sp>
      <p:sp>
        <p:nvSpPr>
          <p:cNvPr id="179" name="Google Shape;179;p17"/>
          <p:cNvSpPr/>
          <p:nvPr/>
        </p:nvSpPr>
        <p:spPr>
          <a:xfrm>
            <a:off x="762000" y="1028700"/>
            <a:ext cx="57150" cy="304800"/>
          </a:xfrm>
          <a:prstGeom prst="roundRect">
            <a:avLst>
              <a:gd fmla="val 33333" name="adj"/>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0" name="Google Shape;180;p17"/>
          <p:cNvSpPr txBox="1"/>
          <p:nvPr/>
        </p:nvSpPr>
        <p:spPr>
          <a:xfrm>
            <a:off x="762000" y="1409700"/>
            <a:ext cx="10668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Moving away from standard linear extrapolation (optical flow), our model uses </a:t>
            </a:r>
            <a:r>
              <a:rPr b="0" i="0" lang="en-US" sz="1350" u="none" cap="none" strike="noStrike">
                <a:solidFill>
                  <a:srgbClr val="0F172A"/>
                </a:solidFill>
                <a:latin typeface="Inter SemiBold"/>
                <a:ea typeface="Inter SemiBold"/>
                <a:cs typeface="Inter SemiBold"/>
                <a:sym typeface="Inter SemiBold"/>
              </a:rPr>
              <a:t>Deep Generative AI</a:t>
            </a:r>
            <a:r>
              <a:rPr b="0" i="0" lang="en-US" sz="1350" u="none" cap="none" strike="noStrike">
                <a:solidFill>
                  <a:srgbClr val="475569"/>
                </a:solidFill>
                <a:latin typeface="Inter"/>
                <a:ea typeface="Inter"/>
                <a:cs typeface="Inter"/>
                <a:sym typeface="Inter"/>
              </a:rPr>
              <a:t> to accurately "hallucinate" physical storm development and decay.</a:t>
            </a:r>
            <a:endParaRPr/>
          </a:p>
        </p:txBody>
      </p:sp>
      <p:graphicFrame>
        <p:nvGraphicFramePr>
          <p:cNvPr id="181" name="Google Shape;181;p17"/>
          <p:cNvGraphicFramePr/>
          <p:nvPr/>
        </p:nvGraphicFramePr>
        <p:xfrm>
          <a:off x="762000" y="2339280"/>
          <a:ext cx="3000000" cy="3000000"/>
        </p:xfrm>
        <a:graphic>
          <a:graphicData uri="http://schemas.openxmlformats.org/drawingml/2006/table">
            <a:tbl>
              <a:tblPr bandRow="1" firstRow="1">
                <a:noFill/>
                <a:tableStyleId>{89371001-DAA5-4BC6-B971-1A2579F48944}</a:tableStyleId>
              </a:tblPr>
              <a:tblGrid>
                <a:gridCol w="2401800"/>
                <a:gridCol w="4181775"/>
                <a:gridCol w="4084450"/>
              </a:tblGrid>
              <a:tr h="726150">
                <a:tc>
                  <a:txBody>
                    <a:bodyPr/>
                    <a:lstStyle/>
                    <a:p>
                      <a:pPr indent="0" lvl="0" marL="0" marR="0" rtl="0" algn="l">
                        <a:spcBef>
                          <a:spcPts val="0"/>
                        </a:spcBef>
                        <a:spcAft>
                          <a:spcPts val="0"/>
                        </a:spcAft>
                        <a:buNone/>
                      </a:pPr>
                      <a:r>
                        <a:rPr b="1" i="0" lang="en-US" sz="1200" u="none" cap="none" strike="noStrike">
                          <a:solidFill>
                            <a:srgbClr val="94A3B8"/>
                          </a:solidFill>
                          <a:latin typeface="Inter"/>
                          <a:ea typeface="Inter"/>
                          <a:cs typeface="Inter"/>
                          <a:sym typeface="Inter"/>
                        </a:rPr>
                        <a:t>Feature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94A3B8"/>
                          </a:solidFill>
                          <a:latin typeface="Inter"/>
                          <a:ea typeface="Inter"/>
                          <a:cs typeface="Inter"/>
                          <a:sym typeface="Inter"/>
                        </a:rPr>
                        <a:t>Traditional NWP Models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94A3B8"/>
                          </a:solidFill>
                          <a:latin typeface="Inter"/>
                          <a:ea typeface="Inter"/>
                          <a:cs typeface="Inter"/>
                          <a:sym typeface="Inter"/>
                        </a:rPr>
                        <a:t>Project Nimbus (Our AI)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26150">
                <a:tc>
                  <a:txBody>
                    <a:bodyPr/>
                    <a:lstStyle/>
                    <a:p>
                      <a:pPr indent="0" lvl="0" marL="0" marR="0" rtl="0" algn="l">
                        <a:spcBef>
                          <a:spcPts val="0"/>
                        </a:spcBef>
                        <a:spcAft>
                          <a:spcPts val="0"/>
                        </a:spcAft>
                        <a:buNone/>
                      </a:pPr>
                      <a:r>
                        <a:rPr b="1" i="0" lang="en-US" sz="1350" u="none" cap="none" strike="noStrike">
                          <a:solidFill>
                            <a:srgbClr val="475569"/>
                          </a:solidFill>
                          <a:latin typeface="Inter"/>
                          <a:ea typeface="Inter"/>
                          <a:cs typeface="Inter"/>
                          <a:sym typeface="Inter"/>
                        </a:rPr>
                        <a:t>Processing Time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475569"/>
                          </a:solidFill>
                          <a:latin typeface="Inter"/>
                          <a:ea typeface="Inter"/>
                          <a:cs typeface="Inter"/>
                          <a:sym typeface="Inter"/>
                        </a:rPr>
                        <a:t>2 to 4 hours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2563EB"/>
                          </a:solidFill>
                          <a:latin typeface="Inter SemiBold"/>
                          <a:ea typeface="Inter SemiBold"/>
                          <a:cs typeface="Inter SemiBold"/>
                          <a:sym typeface="Inter SemiBold"/>
                        </a:rPr>
                        <a:t>Unde</a:t>
                      </a:r>
                      <a:r>
                        <a:rPr lang="en-US" sz="1350">
                          <a:solidFill>
                            <a:srgbClr val="2563EB"/>
                          </a:solidFill>
                          <a:latin typeface="Inter"/>
                          <a:ea typeface="Inter"/>
                          <a:cs typeface="Inter"/>
                          <a:sym typeface="Inter"/>
                        </a:rPr>
                        <a:t>Under 3 seconds</a:t>
                      </a:r>
                      <a:r>
                        <a:rPr lang="en-US" sz="1100">
                          <a:latin typeface="Arial"/>
                          <a:ea typeface="Arial"/>
                          <a:cs typeface="Arial"/>
                          <a:sym typeface="Arial"/>
                        </a:rPr>
                        <a:t> </a:t>
                      </a:r>
                      <a:r>
                        <a:rPr b="0" i="0" lang="en-US" sz="1350" u="none" cap="none" strike="noStrike">
                          <a:solidFill>
                            <a:srgbClr val="2563EB"/>
                          </a:solidFill>
                          <a:latin typeface="Inter SemiBold"/>
                          <a:ea typeface="Inter SemiBold"/>
                          <a:cs typeface="Inter SemiBold"/>
                          <a:sym typeface="Inter SemiBold"/>
                        </a:rPr>
                        <a:t>r 3 seconds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r>
              <a:tr h="726150">
                <a:tc>
                  <a:txBody>
                    <a:bodyPr/>
                    <a:lstStyle/>
                    <a:p>
                      <a:pPr indent="0" lvl="0" marL="0" marR="0" rtl="0" algn="l">
                        <a:spcBef>
                          <a:spcPts val="0"/>
                        </a:spcBef>
                        <a:spcAft>
                          <a:spcPts val="0"/>
                        </a:spcAft>
                        <a:buNone/>
                      </a:pPr>
                      <a:r>
                        <a:rPr b="1" i="0" lang="en-US" sz="1350" u="none" cap="none" strike="noStrike">
                          <a:solidFill>
                            <a:srgbClr val="475569"/>
                          </a:solidFill>
                          <a:latin typeface="Inter"/>
                          <a:ea typeface="Inter"/>
                          <a:cs typeface="Inter"/>
                          <a:sym typeface="Inter"/>
                        </a:rPr>
                        <a:t>Spatial Resolution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475569"/>
                          </a:solidFill>
                          <a:latin typeface="Inter"/>
                          <a:ea typeface="Inter"/>
                          <a:cs typeface="Inter"/>
                          <a:sym typeface="Inter"/>
                        </a:rPr>
                        <a:t>Broad region / State level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2563EB"/>
                          </a:solidFill>
                          <a:latin typeface="Inter SemiBold"/>
                          <a:ea typeface="Inter SemiBold"/>
                          <a:cs typeface="Inter SemiBold"/>
                          <a:sym typeface="Inter SemiBold"/>
                        </a:rPr>
                        <a:t>Hyper-l</a:t>
                      </a:r>
                      <a:r>
                        <a:rPr lang="en-US" sz="1350">
                          <a:solidFill>
                            <a:srgbClr val="2563EB"/>
                          </a:solidFill>
                          <a:latin typeface="Inter"/>
                          <a:ea typeface="Inter"/>
                          <a:cs typeface="Inter"/>
                          <a:sym typeface="Inter"/>
                        </a:rPr>
                        <a:t>Hyper-local (1km x 1km grid)</a:t>
                      </a:r>
                      <a:r>
                        <a:rPr lang="en-US" sz="1100">
                          <a:latin typeface="Arial"/>
                          <a:ea typeface="Arial"/>
                          <a:cs typeface="Arial"/>
                          <a:sym typeface="Arial"/>
                        </a:rPr>
                        <a:t> </a:t>
                      </a:r>
                      <a:r>
                        <a:rPr b="0" i="0" lang="en-US" sz="1350" u="none" cap="none" strike="noStrike">
                          <a:solidFill>
                            <a:srgbClr val="2563EB"/>
                          </a:solidFill>
                          <a:latin typeface="Inter SemiBold"/>
                          <a:ea typeface="Inter SemiBold"/>
                          <a:cs typeface="Inter SemiBold"/>
                          <a:sym typeface="Inter SemiBold"/>
                        </a:rPr>
                        <a:t>ocal (1km x 1km grid)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r>
              <a:tr h="726150">
                <a:tc>
                  <a:txBody>
                    <a:bodyPr/>
                    <a:lstStyle/>
                    <a:p>
                      <a:pPr indent="0" lvl="0" marL="0" marR="0" rtl="0" algn="l">
                        <a:spcBef>
                          <a:spcPts val="0"/>
                        </a:spcBef>
                        <a:spcAft>
                          <a:spcPts val="0"/>
                        </a:spcAft>
                        <a:buNone/>
                      </a:pPr>
                      <a:r>
                        <a:rPr b="1" i="0" lang="en-US" sz="1350" u="none" cap="none" strike="noStrike">
                          <a:solidFill>
                            <a:srgbClr val="475569"/>
                          </a:solidFill>
                          <a:latin typeface="Inter"/>
                          <a:ea typeface="Inter"/>
                          <a:cs typeface="Inter"/>
                          <a:sym typeface="Inter"/>
                        </a:rPr>
                        <a:t>Alert Targeting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475569"/>
                          </a:solidFill>
                          <a:latin typeface="Inter"/>
                          <a:ea typeface="Inter"/>
                          <a:cs typeface="Inter"/>
                          <a:sym typeface="Inter"/>
                        </a:rPr>
                        <a:t>Mass broadcast (TV, Radio)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2563EB"/>
                          </a:solidFill>
                          <a:latin typeface="Inter SemiBold"/>
                          <a:ea typeface="Inter SemiBold"/>
                          <a:cs typeface="Inter SemiBold"/>
                          <a:sym typeface="Inter SemiBold"/>
                        </a:rPr>
                        <a:t>Precise geofenced SMS/Push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r>
              <a:tr h="726150">
                <a:tc>
                  <a:txBody>
                    <a:bodyPr/>
                    <a:lstStyle/>
                    <a:p>
                      <a:pPr indent="0" lvl="0" marL="0" marR="0" rtl="0" algn="l">
                        <a:spcBef>
                          <a:spcPts val="0"/>
                        </a:spcBef>
                        <a:spcAft>
                          <a:spcPts val="0"/>
                        </a:spcAft>
                        <a:buNone/>
                      </a:pPr>
                      <a:r>
                        <a:rPr b="1" i="0" lang="en-US" sz="1350" u="none" cap="none" strike="noStrike">
                          <a:solidFill>
                            <a:srgbClr val="475569"/>
                          </a:solidFill>
                          <a:latin typeface="Inter"/>
                          <a:ea typeface="Inter"/>
                          <a:cs typeface="Inter"/>
                          <a:sym typeface="Inter"/>
                        </a:rPr>
                        <a:t>Foundation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475569"/>
                          </a:solidFill>
                          <a:latin typeface="Inter"/>
                          <a:ea typeface="Inter"/>
                          <a:cs typeface="Inter"/>
                          <a:sym typeface="Inter"/>
                        </a:rPr>
                        <a:t>Physics &amp; fluid dynamics equations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2563EB"/>
                          </a:solidFill>
                          <a:latin typeface="Inter SemiBold"/>
                          <a:ea typeface="Inter SemiBold"/>
                          <a:cs typeface="Inter SemiBold"/>
                          <a:sym typeface="Inter SemiBold"/>
                        </a:rPr>
                        <a:t>Data</a:t>
                      </a:r>
                      <a:r>
                        <a:rPr b="0" i="0" lang="en-US" sz="1350" u="none" cap="none" strike="noStrike">
                          <a:solidFill>
                            <a:srgbClr val="2563EB"/>
                          </a:solidFill>
                          <a:latin typeface="Inter SemiBold"/>
                          <a:ea typeface="Inter SemiBold"/>
                          <a:cs typeface="Inter SemiBold"/>
                          <a:sym typeface="Inter SemiBold"/>
                        </a:rPr>
                        <a:t>-driven Convolutional LSTMs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r>
            </a:tbl>
          </a:graphicData>
        </a:graphic>
      </p:graphicFrame>
      <p:sp>
        <p:nvSpPr>
          <p:cNvPr id="182" name="Google Shape;182;p17"/>
          <p:cNvSpPr/>
          <p:nvPr/>
        </p:nvSpPr>
        <p:spPr>
          <a:xfrm>
            <a:off x="762000" y="2977455"/>
            <a:ext cx="2401788"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3" name="Google Shape;183;p17"/>
          <p:cNvSpPr/>
          <p:nvPr/>
        </p:nvSpPr>
        <p:spPr>
          <a:xfrm>
            <a:off x="3163788" y="2977455"/>
            <a:ext cx="4181772"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4" name="Google Shape;184;p17"/>
          <p:cNvSpPr/>
          <p:nvPr/>
        </p:nvSpPr>
        <p:spPr>
          <a:xfrm>
            <a:off x="7345560" y="2977455"/>
            <a:ext cx="4084439" cy="1905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 name="Google Shape;185;p17"/>
          <p:cNvSpPr/>
          <p:nvPr/>
        </p:nvSpPr>
        <p:spPr>
          <a:xfrm>
            <a:off x="762000" y="3732758"/>
            <a:ext cx="240178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17"/>
          <p:cNvSpPr/>
          <p:nvPr/>
        </p:nvSpPr>
        <p:spPr>
          <a:xfrm>
            <a:off x="3163788" y="3732758"/>
            <a:ext cx="418177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17"/>
          <p:cNvSpPr/>
          <p:nvPr/>
        </p:nvSpPr>
        <p:spPr>
          <a:xfrm>
            <a:off x="7345560" y="3732758"/>
            <a:ext cx="408443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8" name="Google Shape;188;p17"/>
          <p:cNvSpPr/>
          <p:nvPr/>
        </p:nvSpPr>
        <p:spPr>
          <a:xfrm>
            <a:off x="762000" y="4473773"/>
            <a:ext cx="240178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9" name="Google Shape;189;p17"/>
          <p:cNvSpPr/>
          <p:nvPr/>
        </p:nvSpPr>
        <p:spPr>
          <a:xfrm>
            <a:off x="3163788" y="4473773"/>
            <a:ext cx="418177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0" name="Google Shape;190;p17"/>
          <p:cNvSpPr/>
          <p:nvPr/>
        </p:nvSpPr>
        <p:spPr>
          <a:xfrm>
            <a:off x="7345560" y="4473773"/>
            <a:ext cx="408443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17"/>
          <p:cNvSpPr/>
          <p:nvPr/>
        </p:nvSpPr>
        <p:spPr>
          <a:xfrm>
            <a:off x="762000" y="5214788"/>
            <a:ext cx="240178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2" name="Google Shape;192;p17"/>
          <p:cNvSpPr/>
          <p:nvPr/>
        </p:nvSpPr>
        <p:spPr>
          <a:xfrm>
            <a:off x="3163788" y="5214788"/>
            <a:ext cx="418177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3" name="Google Shape;193;p17"/>
          <p:cNvSpPr/>
          <p:nvPr/>
        </p:nvSpPr>
        <p:spPr>
          <a:xfrm>
            <a:off x="7345560" y="5214788"/>
            <a:ext cx="408443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4" name="Google Shape;194;p17"/>
          <p:cNvSpPr/>
          <p:nvPr/>
        </p:nvSpPr>
        <p:spPr>
          <a:xfrm>
            <a:off x="762000" y="5955803"/>
            <a:ext cx="240178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17"/>
          <p:cNvSpPr/>
          <p:nvPr/>
        </p:nvSpPr>
        <p:spPr>
          <a:xfrm>
            <a:off x="3163788" y="5955803"/>
            <a:ext cx="418177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6" name="Google Shape;196;p17"/>
          <p:cNvSpPr/>
          <p:nvPr/>
        </p:nvSpPr>
        <p:spPr>
          <a:xfrm>
            <a:off x="7345560" y="5955803"/>
            <a:ext cx="408443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 name="Shape 200"/>
        <p:cNvGrpSpPr/>
        <p:nvPr/>
      </p:nvGrpSpPr>
      <p:grpSpPr>
        <a:xfrm>
          <a:off x="0" y="0"/>
          <a:ext cx="0" cy="0"/>
          <a:chOff x="0" y="0"/>
          <a:chExt cx="0" cy="0"/>
        </a:xfrm>
      </p:grpSpPr>
      <p:pic>
        <p:nvPicPr>
          <p:cNvPr descr="image.png" id="201" name="Google Shape;201;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2" name="Google Shape;202;p18"/>
          <p:cNvPicPr preferRelativeResize="0"/>
          <p:nvPr/>
        </p:nvPicPr>
        <p:blipFill rotWithShape="1">
          <a:blip r:embed="rId4">
            <a:alphaModFix/>
          </a:blip>
          <a:srcRect b="0" l="0" r="0" t="0"/>
          <a:stretch/>
        </p:blipFill>
        <p:spPr>
          <a:xfrm>
            <a:off x="6381750" y="1770757"/>
            <a:ext cx="5048250" cy="2381250"/>
          </a:xfrm>
          <a:prstGeom prst="rect">
            <a:avLst/>
          </a:prstGeom>
          <a:noFill/>
          <a:ln>
            <a:noFill/>
          </a:ln>
        </p:spPr>
      </p:pic>
      <p:sp>
        <p:nvSpPr>
          <p:cNvPr id="203" name="Google Shape;203;p18"/>
          <p:cNvSpPr txBox="1"/>
          <p:nvPr/>
        </p:nvSpPr>
        <p:spPr>
          <a:xfrm>
            <a:off x="1084750" y="956375"/>
            <a:ext cx="112014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1" i="0" lang="en-US" sz="3000" u="none" cap="none" strike="noStrike">
                <a:solidFill>
                  <a:srgbClr val="0F172A"/>
                </a:solidFill>
                <a:latin typeface="Inter"/>
                <a:ea typeface="Inter"/>
                <a:cs typeface="Inter"/>
                <a:sym typeface="Inter"/>
              </a:rPr>
              <a:t>Feasibility &amp; Viability</a:t>
            </a:r>
            <a:endParaRPr/>
          </a:p>
        </p:txBody>
      </p:sp>
      <p:sp>
        <p:nvSpPr>
          <p:cNvPr id="204" name="Google Shape;204;p18"/>
          <p:cNvSpPr/>
          <p:nvPr/>
        </p:nvSpPr>
        <p:spPr>
          <a:xfrm>
            <a:off x="762000" y="1028700"/>
            <a:ext cx="57150" cy="304800"/>
          </a:xfrm>
          <a:prstGeom prst="roundRect">
            <a:avLst>
              <a:gd fmla="val 33333" name="adj"/>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18"/>
          <p:cNvSpPr txBox="1"/>
          <p:nvPr/>
        </p:nvSpPr>
        <p:spPr>
          <a:xfrm>
            <a:off x="762000" y="1699319"/>
            <a:ext cx="5300662"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2563EB"/>
                </a:solidFill>
                <a:latin typeface="Inter"/>
                <a:ea typeface="Inter"/>
                <a:cs typeface="Inter"/>
                <a:sym typeface="Inter"/>
              </a:rPr>
              <a:t>36-Hour Buildability</a:t>
            </a:r>
            <a:endParaRPr/>
          </a:p>
        </p:txBody>
      </p:sp>
      <p:sp>
        <p:nvSpPr>
          <p:cNvPr id="206" name="Google Shape;206;p18"/>
          <p:cNvSpPr txBox="1"/>
          <p:nvPr/>
        </p:nvSpPr>
        <p:spPr>
          <a:xfrm>
            <a:off x="762000" y="2089844"/>
            <a:ext cx="5048250" cy="1097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Highly feasible. We are utilizing pre-trained foundational AI models (open-source) and will fine-tune them on a specific 3-year subset of historical IMD data during the hackathon to demonstrate a working MVP.</a:t>
            </a:r>
            <a:endParaRPr/>
          </a:p>
        </p:txBody>
      </p:sp>
      <p:sp>
        <p:nvSpPr>
          <p:cNvPr id="207" name="Google Shape;207;p18"/>
          <p:cNvSpPr txBox="1"/>
          <p:nvPr/>
        </p:nvSpPr>
        <p:spPr>
          <a:xfrm>
            <a:off x="762000" y="3472755"/>
            <a:ext cx="5300662"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2563EB"/>
                </a:solidFill>
                <a:latin typeface="Inter"/>
                <a:ea typeface="Inter"/>
                <a:cs typeface="Inter"/>
                <a:sym typeface="Inter"/>
              </a:rPr>
              <a:t>Resources Required</a:t>
            </a:r>
            <a:endParaRPr/>
          </a:p>
        </p:txBody>
      </p:sp>
      <p:sp>
        <p:nvSpPr>
          <p:cNvPr id="208" name="Google Shape;208;p18"/>
          <p:cNvSpPr txBox="1"/>
          <p:nvPr/>
        </p:nvSpPr>
        <p:spPr>
          <a:xfrm>
            <a:off x="6381750" y="4437757"/>
            <a:ext cx="5300662"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2563EB"/>
                </a:solidFill>
                <a:latin typeface="Inter"/>
                <a:ea typeface="Inter"/>
                <a:cs typeface="Inter"/>
                <a:sym typeface="Inter"/>
              </a:rPr>
              <a:t>Scalability</a:t>
            </a:r>
            <a:endParaRPr/>
          </a:p>
        </p:txBody>
      </p:sp>
      <p:sp>
        <p:nvSpPr>
          <p:cNvPr id="209" name="Google Shape;209;p18"/>
          <p:cNvSpPr txBox="1"/>
          <p:nvPr/>
        </p:nvSpPr>
        <p:spPr>
          <a:xfrm>
            <a:off x="6381750" y="4828282"/>
            <a:ext cx="5048250" cy="1097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Because the AI inference is stateless, the model can be deployed locally on edge devices at remote weather stations. This prevents central server bottlenecks, allowing the system to easily handle 1000x user notification loads.</a:t>
            </a:r>
            <a:endParaRPr/>
          </a:p>
        </p:txBody>
      </p:sp>
      <p:pic>
        <p:nvPicPr>
          <p:cNvPr descr="image.png" id="210" name="Google Shape;210;p18"/>
          <p:cNvPicPr preferRelativeResize="0"/>
          <p:nvPr/>
        </p:nvPicPr>
        <p:blipFill rotWithShape="1">
          <a:blip r:embed="rId5">
            <a:alphaModFix/>
          </a:blip>
          <a:srcRect b="0" l="0" r="0" t="0"/>
          <a:stretch/>
        </p:blipFill>
        <p:spPr>
          <a:xfrm>
            <a:off x="6381750" y="1770757"/>
            <a:ext cx="5048250" cy="2381250"/>
          </a:xfrm>
          <a:prstGeom prst="rect">
            <a:avLst/>
          </a:prstGeom>
          <a:noFill/>
          <a:ln>
            <a:noFill/>
          </a:ln>
        </p:spPr>
      </p:pic>
      <p:sp>
        <p:nvSpPr>
          <p:cNvPr id="211" name="Google Shape;211;p18"/>
          <p:cNvSpPr txBox="1"/>
          <p:nvPr/>
        </p:nvSpPr>
        <p:spPr>
          <a:xfrm>
            <a:off x="990600" y="3863280"/>
            <a:ext cx="48196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Open-source IMD historical NetCDF datasets.</a:t>
            </a:r>
            <a:endParaRPr/>
          </a:p>
        </p:txBody>
      </p:sp>
      <p:sp>
        <p:nvSpPr>
          <p:cNvPr id="212" name="Google Shape;212;p18"/>
          <p:cNvSpPr txBox="1"/>
          <p:nvPr/>
        </p:nvSpPr>
        <p:spPr>
          <a:xfrm>
            <a:off x="990600" y="4396680"/>
            <a:ext cx="48196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Free-tier AWS instances for backend routing.</a:t>
            </a:r>
            <a:endParaRPr/>
          </a:p>
        </p:txBody>
      </p:sp>
      <p:sp>
        <p:nvSpPr>
          <p:cNvPr id="213" name="Google Shape;213;p18"/>
          <p:cNvSpPr txBox="1"/>
          <p:nvPr/>
        </p:nvSpPr>
        <p:spPr>
          <a:xfrm>
            <a:off x="990600" y="4930080"/>
            <a:ext cx="48196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475569"/>
                </a:solidFill>
                <a:latin typeface="Inter"/>
                <a:ea typeface="Inter"/>
                <a:cs typeface="Inter"/>
                <a:sym typeface="Inter"/>
              </a:rPr>
              <a:t>Standard open-source Python/PyTorch libraries.</a:t>
            </a:r>
            <a:endParaRPr/>
          </a:p>
        </p:txBody>
      </p:sp>
      <p:sp>
        <p:nvSpPr>
          <p:cNvPr id="214" name="Google Shape;214;p18"/>
          <p:cNvSpPr txBox="1"/>
          <p:nvPr/>
        </p:nvSpPr>
        <p:spPr>
          <a:xfrm>
            <a:off x="990600" y="5463480"/>
            <a:ext cx="48196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Zero</a:t>
            </a:r>
            <a:r>
              <a:rPr b="0" i="0" lang="en-US" sz="1500" u="none" cap="none" strike="noStrike">
                <a:solidFill>
                  <a:srgbClr val="475569"/>
                </a:solidFill>
                <a:latin typeface="Inter"/>
                <a:ea typeface="Inter"/>
                <a:cs typeface="Inter"/>
                <a:sym typeface="Inter"/>
              </a:rPr>
              <a:t> proprietary hardware required.</a:t>
            </a:r>
            <a:endParaRPr/>
          </a:p>
        </p:txBody>
      </p:sp>
      <p:sp>
        <p:nvSpPr>
          <p:cNvPr id="215" name="Google Shape;215;p18"/>
          <p:cNvSpPr txBox="1"/>
          <p:nvPr/>
        </p:nvSpPr>
        <p:spPr>
          <a:xfrm>
            <a:off x="762000" y="3844230"/>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2563EB"/>
                </a:solidFill>
                <a:latin typeface="Inter"/>
                <a:ea typeface="Inter"/>
                <a:cs typeface="Inter"/>
                <a:sym typeface="Inter"/>
              </a:rPr>
              <a:t>•</a:t>
            </a:r>
            <a:endParaRPr/>
          </a:p>
        </p:txBody>
      </p:sp>
      <p:sp>
        <p:nvSpPr>
          <p:cNvPr id="216" name="Google Shape;216;p18"/>
          <p:cNvSpPr txBox="1"/>
          <p:nvPr/>
        </p:nvSpPr>
        <p:spPr>
          <a:xfrm>
            <a:off x="762000" y="4377630"/>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2563EB"/>
                </a:solidFill>
                <a:latin typeface="Inter"/>
                <a:ea typeface="Inter"/>
                <a:cs typeface="Inter"/>
                <a:sym typeface="Inter"/>
              </a:rPr>
              <a:t>•</a:t>
            </a:r>
            <a:endParaRPr/>
          </a:p>
        </p:txBody>
      </p:sp>
      <p:sp>
        <p:nvSpPr>
          <p:cNvPr id="217" name="Google Shape;217;p18"/>
          <p:cNvSpPr txBox="1"/>
          <p:nvPr/>
        </p:nvSpPr>
        <p:spPr>
          <a:xfrm>
            <a:off x="762000" y="4911030"/>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2563EB"/>
                </a:solidFill>
                <a:latin typeface="Inter"/>
                <a:ea typeface="Inter"/>
                <a:cs typeface="Inter"/>
                <a:sym typeface="Inter"/>
              </a:rPr>
              <a:t>•</a:t>
            </a:r>
            <a:endParaRPr/>
          </a:p>
        </p:txBody>
      </p:sp>
      <p:sp>
        <p:nvSpPr>
          <p:cNvPr id="218" name="Google Shape;218;p18"/>
          <p:cNvSpPr txBox="1"/>
          <p:nvPr/>
        </p:nvSpPr>
        <p:spPr>
          <a:xfrm>
            <a:off x="762000" y="5444430"/>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2563EB"/>
                </a:solidFill>
                <a:latin typeface="Inter"/>
                <a:ea typeface="Inter"/>
                <a:cs typeface="Inter"/>
                <a:sym typeface="Inter"/>
              </a:rPr>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 name="Shape 222"/>
        <p:cNvGrpSpPr/>
        <p:nvPr/>
      </p:nvGrpSpPr>
      <p:grpSpPr>
        <a:xfrm>
          <a:off x="0" y="0"/>
          <a:ext cx="0" cy="0"/>
          <a:chOff x="0" y="0"/>
          <a:chExt cx="0" cy="0"/>
        </a:xfrm>
      </p:grpSpPr>
      <p:pic>
        <p:nvPicPr>
          <p:cNvPr descr="image.png" id="223" name="Google Shape;223;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4" name="Google Shape;224;p19"/>
          <p:cNvPicPr preferRelativeResize="0"/>
          <p:nvPr/>
        </p:nvPicPr>
        <p:blipFill rotWithShape="1">
          <a:blip r:embed="rId4">
            <a:alphaModFix/>
          </a:blip>
          <a:srcRect b="0" l="0" r="0" t="0"/>
          <a:stretch/>
        </p:blipFill>
        <p:spPr>
          <a:xfrm>
            <a:off x="762000" y="3242220"/>
            <a:ext cx="10668000" cy="2419350"/>
          </a:xfrm>
          <a:prstGeom prst="rect">
            <a:avLst/>
          </a:prstGeom>
          <a:noFill/>
          <a:ln>
            <a:noFill/>
          </a:ln>
        </p:spPr>
      </p:pic>
      <p:sp>
        <p:nvSpPr>
          <p:cNvPr id="225" name="Google Shape;225;p19"/>
          <p:cNvSpPr txBox="1"/>
          <p:nvPr/>
        </p:nvSpPr>
        <p:spPr>
          <a:xfrm>
            <a:off x="762000" y="571500"/>
            <a:ext cx="11201400" cy="4572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1" i="0" lang="en-US" sz="3000" u="none" cap="none" strike="noStrike">
                <a:solidFill>
                  <a:srgbClr val="0F172A"/>
                </a:solidFill>
                <a:latin typeface="Inter"/>
                <a:ea typeface="Inter"/>
                <a:cs typeface="Inter"/>
                <a:sym typeface="Inter"/>
              </a:rPr>
              <a:t>Impact &amp; Benefits</a:t>
            </a:r>
            <a:endParaRPr/>
          </a:p>
        </p:txBody>
      </p:sp>
      <p:sp>
        <p:nvSpPr>
          <p:cNvPr id="226" name="Google Shape;226;p19"/>
          <p:cNvSpPr/>
          <p:nvPr/>
        </p:nvSpPr>
        <p:spPr>
          <a:xfrm>
            <a:off x="762000" y="1028700"/>
            <a:ext cx="57150" cy="304800"/>
          </a:xfrm>
          <a:prstGeom prst="roundRect">
            <a:avLst>
              <a:gd fmla="val 33333" name="adj"/>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7" name="Google Shape;227;p19"/>
          <p:cNvSpPr txBox="1"/>
          <p:nvPr/>
        </p:nvSpPr>
        <p:spPr>
          <a:xfrm>
            <a:off x="762000" y="3642270"/>
            <a:ext cx="1120140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Inter"/>
                <a:ea typeface="Inter"/>
                <a:cs typeface="Inter"/>
                <a:sym typeface="Inter"/>
              </a:rPr>
              <a:t>Who Specifically Benefits?</a:t>
            </a:r>
            <a:endParaRPr/>
          </a:p>
        </p:txBody>
      </p:sp>
      <p:sp>
        <p:nvSpPr>
          <p:cNvPr id="228" name="Google Shape;228;p19"/>
          <p:cNvSpPr txBox="1"/>
          <p:nvPr/>
        </p:nvSpPr>
        <p:spPr>
          <a:xfrm>
            <a:off x="1028700" y="1409700"/>
            <a:ext cx="29337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600" u="none" cap="none" strike="noStrike">
                <a:solidFill>
                  <a:srgbClr val="0F172A"/>
                </a:solidFill>
                <a:latin typeface="Inter ExtraBold"/>
                <a:ea typeface="Inter ExtraBold"/>
                <a:cs typeface="Inter ExtraBold"/>
                <a:sym typeface="Inter ExtraBold"/>
              </a:rPr>
              <a:t>45 Min</a:t>
            </a:r>
            <a:endParaRPr/>
          </a:p>
        </p:txBody>
      </p:sp>
      <p:sp>
        <p:nvSpPr>
          <p:cNvPr id="229" name="Google Shape;229;p19"/>
          <p:cNvSpPr txBox="1"/>
          <p:nvPr/>
        </p:nvSpPr>
        <p:spPr>
          <a:xfrm>
            <a:off x="1028700" y="1943100"/>
            <a:ext cx="293370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F172A"/>
                </a:solidFill>
                <a:latin typeface="Inter SemiBold"/>
                <a:ea typeface="Inter SemiBold"/>
                <a:cs typeface="Inter SemiBold"/>
                <a:sym typeface="Inter SemiBold"/>
              </a:rPr>
              <a:t>Time Saved:</a:t>
            </a:r>
            <a:r>
              <a:rPr b="0" i="0" lang="en-US" sz="1350" u="none" cap="none" strike="noStrike">
                <a:solidFill>
                  <a:srgbClr val="475569"/>
                </a:solidFill>
                <a:latin typeface="Inter"/>
                <a:ea typeface="Inter"/>
                <a:cs typeface="Inter"/>
                <a:sym typeface="Inter"/>
              </a:rPr>
              <a:t> Increases the critical response window for emergency services before impact.</a:t>
            </a:r>
            <a:endParaRPr/>
          </a:p>
        </p:txBody>
      </p:sp>
      <p:sp>
        <p:nvSpPr>
          <p:cNvPr id="230" name="Google Shape;230;p19"/>
          <p:cNvSpPr txBox="1"/>
          <p:nvPr/>
        </p:nvSpPr>
        <p:spPr>
          <a:xfrm>
            <a:off x="4762500" y="1409700"/>
            <a:ext cx="29337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600" u="none" cap="none" strike="noStrike">
                <a:solidFill>
                  <a:srgbClr val="0F172A"/>
                </a:solidFill>
                <a:latin typeface="Inter ExtraBold"/>
                <a:ea typeface="Inter ExtraBold"/>
                <a:cs typeface="Inter ExtraBold"/>
                <a:sym typeface="Inter ExtraBold"/>
              </a:rPr>
              <a:t>10,000+</a:t>
            </a:r>
            <a:endParaRPr/>
          </a:p>
        </p:txBody>
      </p:sp>
      <p:sp>
        <p:nvSpPr>
          <p:cNvPr id="231" name="Google Shape;231;p19"/>
          <p:cNvSpPr txBox="1"/>
          <p:nvPr/>
        </p:nvSpPr>
        <p:spPr>
          <a:xfrm>
            <a:off x="4762500" y="1943100"/>
            <a:ext cx="293370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F172A"/>
                </a:solidFill>
                <a:latin typeface="Inter SemiBold"/>
                <a:ea typeface="Inter SemiBold"/>
                <a:cs typeface="Inter SemiBold"/>
                <a:sym typeface="Inter SemiBold"/>
              </a:rPr>
              <a:t>Lives Protected:</a:t>
            </a:r>
            <a:r>
              <a:rPr b="0" i="0" lang="en-US" sz="1350" u="none" cap="none" strike="noStrike">
                <a:solidFill>
                  <a:srgbClr val="475569"/>
                </a:solidFill>
                <a:latin typeface="Inter"/>
                <a:ea typeface="Inter"/>
                <a:cs typeface="Inter"/>
                <a:sym typeface="Inter"/>
              </a:rPr>
              <a:t> Annually, by targeting highly vulnerable, flood-prone urban and rural sectors.</a:t>
            </a:r>
            <a:endParaRPr/>
          </a:p>
        </p:txBody>
      </p:sp>
      <p:sp>
        <p:nvSpPr>
          <p:cNvPr id="232" name="Google Shape;232;p19"/>
          <p:cNvSpPr txBox="1"/>
          <p:nvPr/>
        </p:nvSpPr>
        <p:spPr>
          <a:xfrm>
            <a:off x="8496300" y="1409700"/>
            <a:ext cx="293370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600" u="none" cap="none" strike="noStrike">
                <a:solidFill>
                  <a:srgbClr val="0F172A"/>
                </a:solidFill>
                <a:latin typeface="Inter ExtraBold"/>
                <a:ea typeface="Inter ExtraBold"/>
                <a:cs typeface="Inter ExtraBold"/>
                <a:sym typeface="Inter ExtraBold"/>
              </a:rPr>
              <a:t>SDG 11 &amp; 13</a:t>
            </a:r>
            <a:endParaRPr/>
          </a:p>
        </p:txBody>
      </p:sp>
      <p:sp>
        <p:nvSpPr>
          <p:cNvPr id="233" name="Google Shape;233;p19"/>
          <p:cNvSpPr txBox="1"/>
          <p:nvPr/>
        </p:nvSpPr>
        <p:spPr>
          <a:xfrm>
            <a:off x="8496300" y="1943100"/>
            <a:ext cx="293370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F172A"/>
                </a:solidFill>
                <a:latin typeface="Inter SemiBold"/>
                <a:ea typeface="Inter SemiBold"/>
                <a:cs typeface="Inter SemiBold"/>
                <a:sym typeface="Inter SemiBold"/>
              </a:rPr>
              <a:t>Alignment:</a:t>
            </a:r>
            <a:r>
              <a:rPr b="0" i="0" lang="en-US" sz="1350" u="none" cap="none" strike="noStrike">
                <a:solidFill>
                  <a:srgbClr val="475569"/>
                </a:solidFill>
                <a:latin typeface="Inter"/>
                <a:ea typeface="Inter"/>
                <a:cs typeface="Inter"/>
                <a:sym typeface="Inter"/>
              </a:rPr>
              <a:t> Directly supports Sustainable Cities &amp; Communities, and Global Climate Action initiatives.</a:t>
            </a:r>
            <a:endParaRPr/>
          </a:p>
        </p:txBody>
      </p:sp>
      <p:sp>
        <p:nvSpPr>
          <p:cNvPr id="234" name="Google Shape;234;p19"/>
          <p:cNvSpPr txBox="1"/>
          <p:nvPr/>
        </p:nvSpPr>
        <p:spPr>
          <a:xfrm>
            <a:off x="990600" y="4061370"/>
            <a:ext cx="104394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State Disaster Management Authorities (SDMA):</a:t>
            </a:r>
            <a:r>
              <a:rPr b="0" i="0" lang="en-US" sz="1500" u="none" cap="none" strike="noStrike">
                <a:solidFill>
                  <a:srgbClr val="475569"/>
                </a:solidFill>
                <a:latin typeface="Inter"/>
                <a:ea typeface="Inter"/>
                <a:cs typeface="Inter"/>
                <a:sym typeface="Inter"/>
              </a:rPr>
              <a:t> Gain a real-time command dashboard for preemptive action.</a:t>
            </a:r>
            <a:endParaRPr/>
          </a:p>
        </p:txBody>
      </p:sp>
      <p:sp>
        <p:nvSpPr>
          <p:cNvPr id="235" name="Google Shape;235;p19"/>
          <p:cNvSpPr txBox="1"/>
          <p:nvPr/>
        </p:nvSpPr>
        <p:spPr>
          <a:xfrm>
            <a:off x="990600" y="4594770"/>
            <a:ext cx="104394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Agriculture Sector:</a:t>
            </a:r>
            <a:r>
              <a:rPr b="0" i="0" lang="en-US" sz="1500" u="none" cap="none" strike="noStrike">
                <a:solidFill>
                  <a:srgbClr val="475569"/>
                </a:solidFill>
                <a:latin typeface="Inter"/>
                <a:ea typeface="Inter"/>
                <a:cs typeface="Inter"/>
                <a:sym typeface="Inter"/>
              </a:rPr>
              <a:t> Local farmers receive exact rainfall windows to protect harvested crops.</a:t>
            </a:r>
            <a:endParaRPr/>
          </a:p>
        </p:txBody>
      </p:sp>
      <p:sp>
        <p:nvSpPr>
          <p:cNvPr id="236" name="Google Shape;236;p19"/>
          <p:cNvSpPr txBox="1"/>
          <p:nvPr/>
        </p:nvSpPr>
        <p:spPr>
          <a:xfrm>
            <a:off x="990600" y="5128170"/>
            <a:ext cx="104394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General Public:</a:t>
            </a:r>
            <a:r>
              <a:rPr b="0" i="0" lang="en-US" sz="1500" u="none" cap="none" strike="noStrike">
                <a:solidFill>
                  <a:srgbClr val="475569"/>
                </a:solidFill>
                <a:latin typeface="Inter"/>
                <a:ea typeface="Inter"/>
                <a:cs typeface="Inter"/>
                <a:sym typeface="Inter"/>
              </a:rPr>
              <a:t> Commuters avoid flooded underpasses and deadly urban traffic gridlocks.</a:t>
            </a:r>
            <a:endParaRPr/>
          </a:p>
        </p:txBody>
      </p:sp>
      <p:sp>
        <p:nvSpPr>
          <p:cNvPr id="237" name="Google Shape;237;p19"/>
          <p:cNvSpPr txBox="1"/>
          <p:nvPr/>
        </p:nvSpPr>
        <p:spPr>
          <a:xfrm>
            <a:off x="762000" y="4042320"/>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2563EB"/>
                </a:solidFill>
                <a:latin typeface="Inter"/>
                <a:ea typeface="Inter"/>
                <a:cs typeface="Inter"/>
                <a:sym typeface="Inter"/>
              </a:rPr>
              <a:t>•</a:t>
            </a:r>
            <a:endParaRPr/>
          </a:p>
        </p:txBody>
      </p:sp>
      <p:sp>
        <p:nvSpPr>
          <p:cNvPr id="238" name="Google Shape;238;p19"/>
          <p:cNvSpPr txBox="1"/>
          <p:nvPr/>
        </p:nvSpPr>
        <p:spPr>
          <a:xfrm>
            <a:off x="762000" y="4575720"/>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2563EB"/>
                </a:solidFill>
                <a:latin typeface="Inter"/>
                <a:ea typeface="Inter"/>
                <a:cs typeface="Inter"/>
                <a:sym typeface="Inter"/>
              </a:rPr>
              <a:t>•</a:t>
            </a:r>
            <a:endParaRPr/>
          </a:p>
        </p:txBody>
      </p:sp>
      <p:sp>
        <p:nvSpPr>
          <p:cNvPr id="239" name="Google Shape;239;p19"/>
          <p:cNvSpPr txBox="1"/>
          <p:nvPr/>
        </p:nvSpPr>
        <p:spPr>
          <a:xfrm>
            <a:off x="762000" y="5109120"/>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2563EB"/>
                </a:solidFill>
                <a:latin typeface="Inter"/>
                <a:ea typeface="Inter"/>
                <a:cs typeface="Inter"/>
                <a:sym typeface="Inter"/>
              </a:rPr>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 name="Shape 243"/>
        <p:cNvGrpSpPr/>
        <p:nvPr/>
      </p:nvGrpSpPr>
      <p:grpSpPr>
        <a:xfrm>
          <a:off x="0" y="0"/>
          <a:ext cx="0" cy="0"/>
          <a:chOff x="0" y="0"/>
          <a:chExt cx="0" cy="0"/>
        </a:xfrm>
      </p:grpSpPr>
      <p:pic>
        <p:nvPicPr>
          <p:cNvPr descr="image.png" id="244" name="Google Shape;244;p20"/>
          <p:cNvPicPr preferRelativeResize="0"/>
          <p:nvPr/>
        </p:nvPicPr>
        <p:blipFill rotWithShape="1">
          <a:blip r:embed="rId3">
            <a:alphaModFix/>
          </a:blip>
          <a:srcRect b="0" l="0" r="0" t="0"/>
          <a:stretch/>
        </p:blipFill>
        <p:spPr>
          <a:xfrm>
            <a:off x="266700" y="500225"/>
            <a:ext cx="12192000" cy="6858000"/>
          </a:xfrm>
          <a:prstGeom prst="rect">
            <a:avLst/>
          </a:prstGeom>
          <a:noFill/>
          <a:ln>
            <a:noFill/>
          </a:ln>
        </p:spPr>
      </p:pic>
      <p:pic>
        <p:nvPicPr>
          <p:cNvPr descr="image.png" id="245" name="Google Shape;245;p20"/>
          <p:cNvPicPr preferRelativeResize="0"/>
          <p:nvPr/>
        </p:nvPicPr>
        <p:blipFill rotWithShape="1">
          <a:blip r:embed="rId4">
            <a:alphaModFix/>
          </a:blip>
          <a:srcRect b="0" l="0" r="0" t="0"/>
          <a:stretch/>
        </p:blipFill>
        <p:spPr>
          <a:xfrm>
            <a:off x="762000" y="6415980"/>
            <a:ext cx="4857750" cy="548580"/>
          </a:xfrm>
          <a:prstGeom prst="rect">
            <a:avLst/>
          </a:prstGeom>
          <a:noFill/>
          <a:ln>
            <a:noFill/>
          </a:ln>
        </p:spPr>
      </p:pic>
      <p:sp>
        <p:nvSpPr>
          <p:cNvPr id="246" name="Google Shape;246;p20"/>
          <p:cNvSpPr txBox="1"/>
          <p:nvPr/>
        </p:nvSpPr>
        <p:spPr>
          <a:xfrm>
            <a:off x="1068600" y="872425"/>
            <a:ext cx="112014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1" i="0" lang="en-US" sz="3000" u="none" cap="none" strike="noStrike">
                <a:solidFill>
                  <a:srgbClr val="0F172A"/>
                </a:solidFill>
                <a:latin typeface="Inter"/>
                <a:ea typeface="Inter"/>
                <a:cs typeface="Inter"/>
                <a:sym typeface="Inter"/>
              </a:rPr>
              <a:t>Working Prototype</a:t>
            </a:r>
            <a:endParaRPr/>
          </a:p>
        </p:txBody>
      </p:sp>
      <p:sp>
        <p:nvSpPr>
          <p:cNvPr id="247" name="Google Shape;247;p20"/>
          <p:cNvSpPr/>
          <p:nvPr/>
        </p:nvSpPr>
        <p:spPr>
          <a:xfrm>
            <a:off x="762000" y="1028700"/>
            <a:ext cx="57150" cy="304800"/>
          </a:xfrm>
          <a:prstGeom prst="roundRect">
            <a:avLst>
              <a:gd fmla="val 33333" name="adj"/>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8" name="Google Shape;248;p20"/>
          <p:cNvSpPr txBox="1"/>
          <p:nvPr/>
        </p:nvSpPr>
        <p:spPr>
          <a:xfrm>
            <a:off x="762000" y="1409700"/>
            <a:ext cx="5100637"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F172A"/>
                </a:solidFill>
                <a:latin typeface="Inter"/>
                <a:ea typeface="Inter"/>
                <a:cs typeface="Inter"/>
                <a:sym typeface="Inter"/>
              </a:rPr>
              <a:t>The Citizen Experience</a:t>
            </a:r>
            <a:endParaRPr/>
          </a:p>
        </p:txBody>
      </p:sp>
      <p:sp>
        <p:nvSpPr>
          <p:cNvPr id="249" name="Google Shape;249;p20"/>
          <p:cNvSpPr txBox="1"/>
          <p:nvPr/>
        </p:nvSpPr>
        <p:spPr>
          <a:xfrm>
            <a:off x="762000" y="1924050"/>
            <a:ext cx="485775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Our MVP demonstrates the end-to-end flow: from AI prediction generation to the final user alert.</a:t>
            </a:r>
            <a:endParaRPr/>
          </a:p>
        </p:txBody>
      </p:sp>
      <p:sp>
        <p:nvSpPr>
          <p:cNvPr id="250" name="Google Shape;250;p20"/>
          <p:cNvSpPr txBox="1"/>
          <p:nvPr/>
        </p:nvSpPr>
        <p:spPr>
          <a:xfrm>
            <a:off x="914400" y="6568380"/>
            <a:ext cx="4552950"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0F172A"/>
                </a:solidFill>
                <a:latin typeface="Inter SemiBold"/>
                <a:ea typeface="Inter SemiBold"/>
                <a:cs typeface="Inter SemiBold"/>
                <a:sym typeface="Inter SemiBold"/>
              </a:rPr>
              <a:t>Live Demo (Vercel):</a:t>
            </a:r>
            <a:r>
              <a:rPr b="0" i="0" lang="en-US" sz="1200" u="none" cap="none" strike="noStrike">
                <a:solidFill>
                  <a:srgbClr val="475569"/>
                </a:solidFill>
                <a:latin typeface="Inter"/>
                <a:ea typeface="Inter"/>
                <a:cs typeface="Inter"/>
                <a:sym typeface="Inter"/>
              </a:rPr>
              <a:t> </a:t>
            </a:r>
            <a:r>
              <a:rPr b="0" i="0" lang="en-US" sz="1200" u="none" cap="none" strike="noStrike">
                <a:solidFill>
                  <a:schemeClr val="dk1"/>
                </a:solidFill>
                <a:latin typeface="Inter"/>
                <a:ea typeface="Inter"/>
                <a:cs typeface="Inter"/>
                <a:sym typeface="Inter"/>
              </a:rPr>
              <a:t>nimbus-sih.vercel.app</a:t>
            </a:r>
            <a:endParaRPr/>
          </a:p>
        </p:txBody>
      </p:sp>
      <p:sp>
        <p:nvSpPr>
          <p:cNvPr id="251" name="Google Shape;251;p20"/>
          <p:cNvSpPr txBox="1"/>
          <p:nvPr/>
        </p:nvSpPr>
        <p:spPr>
          <a:xfrm>
            <a:off x="990600" y="2701230"/>
            <a:ext cx="46291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Precision Targeting:</a:t>
            </a:r>
            <a:r>
              <a:rPr b="0" i="0" lang="en-US" sz="1500" u="none" cap="none" strike="noStrike">
                <a:solidFill>
                  <a:srgbClr val="475569"/>
                </a:solidFill>
                <a:latin typeface="Inter"/>
                <a:ea typeface="Inter"/>
                <a:cs typeface="Inter"/>
                <a:sym typeface="Inter"/>
              </a:rPr>
              <a:t> Alerts are only triggered if the user's GPS pings inside the predicted 1km danger polygon.</a:t>
            </a:r>
            <a:endParaRPr/>
          </a:p>
        </p:txBody>
      </p:sp>
      <p:sp>
        <p:nvSpPr>
          <p:cNvPr id="252" name="Google Shape;252;p20"/>
          <p:cNvSpPr txBox="1"/>
          <p:nvPr/>
        </p:nvSpPr>
        <p:spPr>
          <a:xfrm>
            <a:off x="990600" y="3844230"/>
            <a:ext cx="46291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Actionable UI:</a:t>
            </a:r>
            <a:r>
              <a:rPr b="0" i="0" lang="en-US" sz="1500" u="none" cap="none" strike="noStrike">
                <a:solidFill>
                  <a:srgbClr val="475569"/>
                </a:solidFill>
                <a:latin typeface="Inter"/>
                <a:ea typeface="Inter"/>
                <a:cs typeface="Inter"/>
                <a:sym typeface="Inter"/>
              </a:rPr>
              <a:t> Clear directives ("Seek higher ground") rather than confusing meteorological jargon.</a:t>
            </a:r>
            <a:endParaRPr/>
          </a:p>
        </p:txBody>
      </p:sp>
      <p:sp>
        <p:nvSpPr>
          <p:cNvPr id="253" name="Google Shape;253;p20"/>
          <p:cNvSpPr txBox="1"/>
          <p:nvPr/>
        </p:nvSpPr>
        <p:spPr>
          <a:xfrm>
            <a:off x="990600" y="4987230"/>
            <a:ext cx="46291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Authority Portal:</a:t>
            </a:r>
            <a:r>
              <a:rPr b="0" i="0" lang="en-US" sz="1500" u="none" cap="none" strike="noStrike">
                <a:solidFill>
                  <a:srgbClr val="475569"/>
                </a:solidFill>
                <a:latin typeface="Inter"/>
                <a:ea typeface="Inter"/>
                <a:cs typeface="Inter"/>
                <a:sym typeface="Inter"/>
              </a:rPr>
              <a:t> A secondary web view allows authorities to see exactly which cell-zones have been notified.</a:t>
            </a:r>
            <a:endParaRPr/>
          </a:p>
        </p:txBody>
      </p:sp>
      <p:sp>
        <p:nvSpPr>
          <p:cNvPr id="254" name="Google Shape;254;p20"/>
          <p:cNvSpPr txBox="1"/>
          <p:nvPr/>
        </p:nvSpPr>
        <p:spPr>
          <a:xfrm>
            <a:off x="762000" y="2682180"/>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2563EB"/>
                </a:solidFill>
                <a:latin typeface="Inter"/>
                <a:ea typeface="Inter"/>
                <a:cs typeface="Inter"/>
                <a:sym typeface="Inter"/>
              </a:rPr>
              <a:t>•</a:t>
            </a:r>
            <a:endParaRPr/>
          </a:p>
        </p:txBody>
      </p:sp>
      <p:sp>
        <p:nvSpPr>
          <p:cNvPr id="255" name="Google Shape;255;p20"/>
          <p:cNvSpPr txBox="1"/>
          <p:nvPr/>
        </p:nvSpPr>
        <p:spPr>
          <a:xfrm>
            <a:off x="762000" y="3825180"/>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2563EB"/>
                </a:solidFill>
                <a:latin typeface="Inter"/>
                <a:ea typeface="Inter"/>
                <a:cs typeface="Inter"/>
                <a:sym typeface="Inter"/>
              </a:rPr>
              <a:t>•</a:t>
            </a:r>
            <a:endParaRPr/>
          </a:p>
        </p:txBody>
      </p:sp>
      <p:sp>
        <p:nvSpPr>
          <p:cNvPr id="256" name="Google Shape;256;p20"/>
          <p:cNvSpPr txBox="1"/>
          <p:nvPr/>
        </p:nvSpPr>
        <p:spPr>
          <a:xfrm>
            <a:off x="762000" y="4968180"/>
            <a:ext cx="104775" cy="36195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2563EB"/>
                </a:solidFill>
                <a:latin typeface="Inter"/>
                <a:ea typeface="Inter"/>
                <a:cs typeface="Inter"/>
                <a:sym typeface="Inter"/>
              </a:rPr>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0" name="Shape 260"/>
        <p:cNvGrpSpPr/>
        <p:nvPr/>
      </p:nvGrpSpPr>
      <p:grpSpPr>
        <a:xfrm>
          <a:off x="0" y="0"/>
          <a:ext cx="0" cy="0"/>
          <a:chOff x="0" y="0"/>
          <a:chExt cx="0" cy="0"/>
        </a:xfrm>
      </p:grpSpPr>
      <p:pic>
        <p:nvPicPr>
          <p:cNvPr descr="image.png" id="261" name="Google Shape;261;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62" name="Google Shape;262;p21"/>
          <p:cNvSpPr txBox="1"/>
          <p:nvPr/>
        </p:nvSpPr>
        <p:spPr>
          <a:xfrm>
            <a:off x="990600" y="952500"/>
            <a:ext cx="112014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1" i="0" lang="en-US" sz="3000" u="none" cap="none" strike="noStrike">
                <a:solidFill>
                  <a:srgbClr val="0F172A"/>
                </a:solidFill>
                <a:latin typeface="Inter"/>
                <a:ea typeface="Inter"/>
                <a:cs typeface="Inter"/>
                <a:sym typeface="Inter"/>
              </a:rPr>
              <a:t>Execution Plan (36 Hours)</a:t>
            </a:r>
            <a:endParaRPr/>
          </a:p>
        </p:txBody>
      </p:sp>
      <p:sp>
        <p:nvSpPr>
          <p:cNvPr id="263" name="Google Shape;263;p21"/>
          <p:cNvSpPr/>
          <p:nvPr/>
        </p:nvSpPr>
        <p:spPr>
          <a:xfrm>
            <a:off x="762000" y="1028700"/>
            <a:ext cx="57150" cy="304800"/>
          </a:xfrm>
          <a:prstGeom prst="roundRect">
            <a:avLst>
              <a:gd fmla="val 33333" name="adj"/>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4" name="Google Shape;264;p21"/>
          <p:cNvSpPr txBox="1"/>
          <p:nvPr/>
        </p:nvSpPr>
        <p:spPr>
          <a:xfrm>
            <a:off x="762000" y="1619250"/>
            <a:ext cx="1143000" cy="130105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2563EB"/>
                </a:solidFill>
                <a:latin typeface="Inter SemiBold"/>
                <a:ea typeface="Inter SemiBold"/>
                <a:cs typeface="Inter SemiBold"/>
                <a:sym typeface="Inter SemiBold"/>
              </a:rPr>
              <a:t>Hours 1 - 8</a:t>
            </a:r>
            <a:endParaRPr/>
          </a:p>
        </p:txBody>
      </p:sp>
      <p:sp>
        <p:nvSpPr>
          <p:cNvPr id="265" name="Google Shape;265;p21"/>
          <p:cNvSpPr txBox="1"/>
          <p:nvPr/>
        </p:nvSpPr>
        <p:spPr>
          <a:xfrm>
            <a:off x="762000" y="2939355"/>
            <a:ext cx="1143000" cy="130105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2563EB"/>
                </a:solidFill>
                <a:latin typeface="Inter SemiBold"/>
                <a:ea typeface="Inter SemiBold"/>
                <a:cs typeface="Inter SemiBold"/>
                <a:sym typeface="Inter SemiBold"/>
              </a:rPr>
              <a:t>Hours 8 - 20</a:t>
            </a:r>
            <a:endParaRPr/>
          </a:p>
        </p:txBody>
      </p:sp>
      <p:sp>
        <p:nvSpPr>
          <p:cNvPr id="266" name="Google Shape;266;p21"/>
          <p:cNvSpPr txBox="1"/>
          <p:nvPr/>
        </p:nvSpPr>
        <p:spPr>
          <a:xfrm>
            <a:off x="762000" y="4259460"/>
            <a:ext cx="1143000" cy="130105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2563EB"/>
                </a:solidFill>
                <a:latin typeface="Inter SemiBold"/>
                <a:ea typeface="Inter SemiBold"/>
                <a:cs typeface="Inter SemiBold"/>
                <a:sym typeface="Inter SemiBold"/>
              </a:rPr>
              <a:t>Hours 20 - 30</a:t>
            </a:r>
            <a:endParaRPr/>
          </a:p>
        </p:txBody>
      </p:sp>
      <p:sp>
        <p:nvSpPr>
          <p:cNvPr id="267" name="Google Shape;267;p21"/>
          <p:cNvSpPr txBox="1"/>
          <p:nvPr/>
        </p:nvSpPr>
        <p:spPr>
          <a:xfrm>
            <a:off x="762000" y="5579566"/>
            <a:ext cx="1143000" cy="92005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2563EB"/>
                </a:solidFill>
                <a:latin typeface="Inter SemiBold"/>
                <a:ea typeface="Inter SemiBold"/>
                <a:cs typeface="Inter SemiBold"/>
                <a:sym typeface="Inter SemiBold"/>
              </a:rPr>
              <a:t>Hours 30 - 36</a:t>
            </a:r>
            <a:endParaRPr/>
          </a:p>
        </p:txBody>
      </p:sp>
      <p:sp>
        <p:nvSpPr>
          <p:cNvPr id="268" name="Google Shape;268;p21"/>
          <p:cNvSpPr/>
          <p:nvPr/>
        </p:nvSpPr>
        <p:spPr>
          <a:xfrm>
            <a:off x="6610350" y="2203102"/>
            <a:ext cx="114300" cy="114300"/>
          </a:xfrm>
          <a:prstGeom prst="roundRect">
            <a:avLst>
              <a:gd fmla="val 50000" name="adj"/>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9" name="Google Shape;269;p21"/>
          <p:cNvSpPr txBox="1"/>
          <p:nvPr/>
        </p:nvSpPr>
        <p:spPr>
          <a:xfrm>
            <a:off x="2209800" y="1600200"/>
            <a:ext cx="968121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Inter"/>
                <a:ea typeface="Inter"/>
                <a:cs typeface="Inter"/>
                <a:sym typeface="Inter"/>
              </a:rPr>
              <a:t>Data Pipeline &amp; Infrastructure</a:t>
            </a:r>
            <a:endParaRPr/>
          </a:p>
        </p:txBody>
      </p:sp>
      <p:sp>
        <p:nvSpPr>
          <p:cNvPr id="270" name="Google Shape;270;p21"/>
          <p:cNvSpPr txBox="1"/>
          <p:nvPr/>
        </p:nvSpPr>
        <p:spPr>
          <a:xfrm>
            <a:off x="2209800" y="1990725"/>
            <a:ext cx="92202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Vikram &amp; Sneha parse IMD historical radar datasets (NetCDF). Set up AWS environments, database schemas, and FastAPI routing.</a:t>
            </a:r>
            <a:endParaRPr/>
          </a:p>
        </p:txBody>
      </p:sp>
      <p:sp>
        <p:nvSpPr>
          <p:cNvPr id="271" name="Google Shape;271;p21"/>
          <p:cNvSpPr/>
          <p:nvPr/>
        </p:nvSpPr>
        <p:spPr>
          <a:xfrm>
            <a:off x="6610350" y="3523208"/>
            <a:ext cx="114300" cy="114300"/>
          </a:xfrm>
          <a:prstGeom prst="roundRect">
            <a:avLst>
              <a:gd fmla="val 50000" name="adj"/>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2" name="Google Shape;272;p21"/>
          <p:cNvSpPr txBox="1"/>
          <p:nvPr/>
        </p:nvSpPr>
        <p:spPr>
          <a:xfrm>
            <a:off x="2209800" y="2920305"/>
            <a:ext cx="968121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Inter"/>
                <a:ea typeface="Inter"/>
                <a:cs typeface="Inter"/>
                <a:sym typeface="Inter"/>
              </a:rPr>
              <a:t>AI Model Fine-Tuning</a:t>
            </a:r>
            <a:endParaRPr/>
          </a:p>
        </p:txBody>
      </p:sp>
      <p:sp>
        <p:nvSpPr>
          <p:cNvPr id="273" name="Google Shape;273;p21"/>
          <p:cNvSpPr txBox="1"/>
          <p:nvPr/>
        </p:nvSpPr>
        <p:spPr>
          <a:xfrm>
            <a:off x="2209800" y="3310830"/>
            <a:ext cx="92202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Ananya &amp; Vikram fine-tune the ConvLSTM model on GPU instances. Goal: Generate first accurate frame predictions on testing data.</a:t>
            </a:r>
            <a:endParaRPr/>
          </a:p>
        </p:txBody>
      </p:sp>
      <p:sp>
        <p:nvSpPr>
          <p:cNvPr id="274" name="Google Shape;274;p21"/>
          <p:cNvSpPr/>
          <p:nvPr/>
        </p:nvSpPr>
        <p:spPr>
          <a:xfrm>
            <a:off x="6610350" y="4843313"/>
            <a:ext cx="114300" cy="114300"/>
          </a:xfrm>
          <a:prstGeom prst="roundRect">
            <a:avLst>
              <a:gd fmla="val 50000" name="adj"/>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21"/>
          <p:cNvSpPr txBox="1"/>
          <p:nvPr/>
        </p:nvSpPr>
        <p:spPr>
          <a:xfrm>
            <a:off x="2209800" y="4240410"/>
            <a:ext cx="968121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Inter"/>
                <a:ea typeface="Inter"/>
                <a:cs typeface="Inter"/>
                <a:sym typeface="Inter"/>
              </a:rPr>
              <a:t>Dashboard &amp; API Integration</a:t>
            </a:r>
            <a:endParaRPr/>
          </a:p>
        </p:txBody>
      </p:sp>
      <p:sp>
        <p:nvSpPr>
          <p:cNvPr id="276" name="Google Shape;276;p21"/>
          <p:cNvSpPr txBox="1"/>
          <p:nvPr/>
        </p:nvSpPr>
        <p:spPr>
          <a:xfrm>
            <a:off x="2209800" y="4630935"/>
            <a:ext cx="92202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Priya &amp; Rahul build the React Mapbox dashboard. Connect backend vulnerability logic to the Twilio API for geofenced SMS simulation.</a:t>
            </a:r>
            <a:endParaRPr/>
          </a:p>
        </p:txBody>
      </p:sp>
      <p:sp>
        <p:nvSpPr>
          <p:cNvPr id="277" name="Google Shape;277;p21"/>
          <p:cNvSpPr/>
          <p:nvPr/>
        </p:nvSpPr>
        <p:spPr>
          <a:xfrm>
            <a:off x="6610350" y="5972919"/>
            <a:ext cx="114300" cy="114300"/>
          </a:xfrm>
          <a:prstGeom prst="roundRect">
            <a:avLst>
              <a:gd fmla="val 50000" name="adj"/>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8" name="Google Shape;278;p21"/>
          <p:cNvSpPr txBox="1"/>
          <p:nvPr/>
        </p:nvSpPr>
        <p:spPr>
          <a:xfrm>
            <a:off x="2209800" y="5560516"/>
            <a:ext cx="968121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Inter"/>
                <a:ea typeface="Inter"/>
                <a:cs typeface="Inter"/>
                <a:sym typeface="Inter"/>
              </a:rPr>
              <a:t>Polish, QA &amp; Pitch Prep</a:t>
            </a:r>
            <a:endParaRPr/>
          </a:p>
        </p:txBody>
      </p:sp>
      <p:sp>
        <p:nvSpPr>
          <p:cNvPr id="279" name="Google Shape;279;p21"/>
          <p:cNvSpPr txBox="1"/>
          <p:nvPr/>
        </p:nvSpPr>
        <p:spPr>
          <a:xfrm>
            <a:off x="2209800" y="5951041"/>
            <a:ext cx="92202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475569"/>
                </a:solidFill>
                <a:latin typeface="Inter"/>
                <a:ea typeface="Inter"/>
                <a:cs typeface="Inter"/>
                <a:sym typeface="Inter"/>
              </a:rPr>
              <a:t>Arjun finalizes UI/UX consistency. Entire team conducts end-to-end integration testing and finalizes the live pitch demonstration.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3" name="Shape 283"/>
        <p:cNvGrpSpPr/>
        <p:nvPr/>
      </p:nvGrpSpPr>
      <p:grpSpPr>
        <a:xfrm>
          <a:off x="0" y="0"/>
          <a:ext cx="0" cy="0"/>
          <a:chOff x="0" y="0"/>
          <a:chExt cx="0" cy="0"/>
        </a:xfrm>
      </p:grpSpPr>
      <p:pic>
        <p:nvPicPr>
          <p:cNvPr descr="image.png" id="284" name="Google Shape;284;p22"/>
          <p:cNvPicPr preferRelativeResize="0"/>
          <p:nvPr/>
        </p:nvPicPr>
        <p:blipFill rotWithShape="1">
          <a:blip r:embed="rId3">
            <a:alphaModFix/>
          </a:blip>
          <a:srcRect b="0" l="0" r="0" t="0"/>
          <a:stretch/>
        </p:blipFill>
        <p:spPr>
          <a:xfrm>
            <a:off x="-72500" y="304475"/>
            <a:ext cx="12192000" cy="6858000"/>
          </a:xfrm>
          <a:prstGeom prst="rect">
            <a:avLst/>
          </a:prstGeom>
          <a:noFill/>
          <a:ln>
            <a:noFill/>
          </a:ln>
        </p:spPr>
      </p:pic>
      <p:pic>
        <p:nvPicPr>
          <p:cNvPr descr="image.png" id="285" name="Google Shape;285;p22"/>
          <p:cNvPicPr preferRelativeResize="0"/>
          <p:nvPr/>
        </p:nvPicPr>
        <p:blipFill rotWithShape="1">
          <a:blip r:embed="rId4">
            <a:alphaModFix/>
          </a:blip>
          <a:srcRect b="0" l="0" r="0" t="0"/>
          <a:stretch/>
        </p:blipFill>
        <p:spPr>
          <a:xfrm>
            <a:off x="762000" y="5522118"/>
            <a:ext cx="10668000" cy="1083766"/>
          </a:xfrm>
          <a:prstGeom prst="rect">
            <a:avLst/>
          </a:prstGeom>
          <a:noFill/>
          <a:ln>
            <a:noFill/>
          </a:ln>
        </p:spPr>
      </p:pic>
      <p:sp>
        <p:nvSpPr>
          <p:cNvPr id="286" name="Google Shape;286;p22"/>
          <p:cNvSpPr txBox="1"/>
          <p:nvPr/>
        </p:nvSpPr>
        <p:spPr>
          <a:xfrm>
            <a:off x="952500" y="947750"/>
            <a:ext cx="112014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None/>
            </a:pPr>
            <a:r>
              <a:rPr b="1" i="0" lang="en-US" sz="3000" u="none" cap="none" strike="noStrike">
                <a:solidFill>
                  <a:srgbClr val="0F172A"/>
                </a:solidFill>
                <a:latin typeface="Inter"/>
                <a:ea typeface="Inter"/>
                <a:cs typeface="Inter"/>
                <a:sym typeface="Inter"/>
              </a:rPr>
              <a:t>Team &amp; References</a:t>
            </a:r>
            <a:endParaRPr/>
          </a:p>
        </p:txBody>
      </p:sp>
      <p:sp>
        <p:nvSpPr>
          <p:cNvPr id="287" name="Google Shape;287;p22"/>
          <p:cNvSpPr/>
          <p:nvPr/>
        </p:nvSpPr>
        <p:spPr>
          <a:xfrm>
            <a:off x="762000" y="1028700"/>
            <a:ext cx="57150" cy="304800"/>
          </a:xfrm>
          <a:prstGeom prst="roundRect">
            <a:avLst>
              <a:gd fmla="val 33333" name="adj"/>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88" name="Google Shape;288;p22"/>
          <p:cNvGraphicFramePr/>
          <p:nvPr/>
        </p:nvGraphicFramePr>
        <p:xfrm>
          <a:off x="762000" y="1409700"/>
          <a:ext cx="3000000" cy="3000000"/>
        </p:xfrm>
        <a:graphic>
          <a:graphicData uri="http://schemas.openxmlformats.org/drawingml/2006/table">
            <a:tbl>
              <a:tblPr bandRow="1" firstRow="1">
                <a:noFill/>
                <a:tableStyleId>{89371001-DAA5-4BC6-B971-1A2579F48944}</a:tableStyleId>
              </a:tblPr>
              <a:tblGrid>
                <a:gridCol w="2667000"/>
                <a:gridCol w="2667000"/>
                <a:gridCol w="5334000"/>
              </a:tblGrid>
              <a:tr h="637775">
                <a:tc>
                  <a:txBody>
                    <a:bodyPr/>
                    <a:lstStyle/>
                    <a:p>
                      <a:pPr indent="0" lvl="0" marL="0" marR="0" rtl="0" algn="l">
                        <a:spcBef>
                          <a:spcPts val="0"/>
                        </a:spcBef>
                        <a:spcAft>
                          <a:spcPts val="0"/>
                        </a:spcAft>
                        <a:buNone/>
                      </a:pPr>
                      <a:r>
                        <a:rPr b="0" i="0" lang="en-US" sz="1200" u="none" cap="none" strike="noStrike">
                          <a:solidFill>
                            <a:srgbClr val="0F172A"/>
                          </a:solidFill>
                          <a:latin typeface="Inter SemiBold"/>
                          <a:ea typeface="Inter SemiBold"/>
                          <a:cs typeface="Inter SemiBold"/>
                          <a:sym typeface="Inter SemiBold"/>
                        </a:rPr>
                        <a:t>Ananya Sharma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563EB"/>
                          </a:solidFill>
                          <a:latin typeface="Inter Medium"/>
                          <a:ea typeface="Inter Medium"/>
                          <a:cs typeface="Inter Medium"/>
                          <a:sym typeface="Inter Medium"/>
                        </a:rPr>
                        <a:t>Data Science Lead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475569"/>
                          </a:solidFill>
                          <a:latin typeface="Inter"/>
                          <a:ea typeface="Inter"/>
                          <a:cs typeface="Inter"/>
                          <a:sym typeface="Inter"/>
                        </a:rPr>
                        <a:t>Specializes in PyTorch, Time-Series Forecasting, and Deep Learning.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37775">
                <a:tc>
                  <a:txBody>
                    <a:bodyPr/>
                    <a:lstStyle/>
                    <a:p>
                      <a:pPr indent="0" lvl="0" marL="0" marR="0" rtl="0" algn="l">
                        <a:spcBef>
                          <a:spcPts val="0"/>
                        </a:spcBef>
                        <a:spcAft>
                          <a:spcPts val="0"/>
                        </a:spcAft>
                        <a:buNone/>
                      </a:pPr>
                      <a:r>
                        <a:rPr b="0" i="0" lang="en-US" sz="1200" u="none" cap="none" strike="noStrike">
                          <a:solidFill>
                            <a:srgbClr val="0F172A"/>
                          </a:solidFill>
                          <a:latin typeface="Inter SemiBold"/>
                          <a:ea typeface="Inter SemiBold"/>
                          <a:cs typeface="Inter SemiBold"/>
                          <a:sym typeface="Inter SemiBold"/>
                        </a:rPr>
                        <a:t>Rahul Menon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563EB"/>
                          </a:solidFill>
                          <a:latin typeface="Inter Medium"/>
                          <a:ea typeface="Inter Medium"/>
                          <a:cs typeface="Inter Medium"/>
                          <a:sym typeface="Inter Medium"/>
                        </a:rPr>
                        <a:t>Backend Engineer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475569"/>
                          </a:solidFill>
                          <a:latin typeface="Inter"/>
                          <a:ea typeface="Inter"/>
                          <a:cs typeface="Inter"/>
                          <a:sym typeface="Inter"/>
                        </a:rPr>
                        <a:t>Expert in FastAPI, PostgreSQL/PostGIS, and scalable API architecture.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37775">
                <a:tc>
                  <a:txBody>
                    <a:bodyPr/>
                    <a:lstStyle/>
                    <a:p>
                      <a:pPr indent="0" lvl="0" marL="0" marR="0" rtl="0" algn="l">
                        <a:spcBef>
                          <a:spcPts val="0"/>
                        </a:spcBef>
                        <a:spcAft>
                          <a:spcPts val="0"/>
                        </a:spcAft>
                        <a:buNone/>
                      </a:pPr>
                      <a:r>
                        <a:rPr b="0" i="0" lang="en-US" sz="1200" u="none" cap="none" strike="noStrike">
                          <a:solidFill>
                            <a:srgbClr val="0F172A"/>
                          </a:solidFill>
                          <a:latin typeface="Inter SemiBold"/>
                          <a:ea typeface="Inter SemiBold"/>
                          <a:cs typeface="Inter SemiBold"/>
                          <a:sym typeface="Inter SemiBold"/>
                        </a:rPr>
                        <a:t>Vikram Patel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563EB"/>
                          </a:solidFill>
                          <a:latin typeface="Inter Medium"/>
                          <a:ea typeface="Inter Medium"/>
                          <a:cs typeface="Inter Medium"/>
                          <a:sym typeface="Inter Medium"/>
                        </a:rPr>
                        <a:t>AI / ML Engineer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475569"/>
                          </a:solidFill>
                          <a:latin typeface="Inter"/>
                          <a:ea typeface="Inter"/>
                          <a:cs typeface="Inter"/>
                          <a:sym typeface="Inter"/>
                        </a:rPr>
                        <a:t>Handles Geospatial Data processing, NetCDF parsing, and Model Optimization.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37775">
                <a:tc>
                  <a:txBody>
                    <a:bodyPr/>
                    <a:lstStyle/>
                    <a:p>
                      <a:pPr indent="0" lvl="0" marL="0" marR="0" rtl="0" algn="l">
                        <a:spcBef>
                          <a:spcPts val="0"/>
                        </a:spcBef>
                        <a:spcAft>
                          <a:spcPts val="0"/>
                        </a:spcAft>
                        <a:buNone/>
                      </a:pPr>
                      <a:r>
                        <a:rPr b="0" i="0" lang="en-US" sz="1200" u="none" cap="none" strike="noStrike">
                          <a:solidFill>
                            <a:srgbClr val="0F172A"/>
                          </a:solidFill>
                          <a:latin typeface="Inter SemiBold"/>
                          <a:ea typeface="Inter SemiBold"/>
                          <a:cs typeface="Inter SemiBold"/>
                          <a:sym typeface="Inter SemiBold"/>
                        </a:rPr>
                        <a:t>Priya Kapoor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563EB"/>
                          </a:solidFill>
                          <a:latin typeface="Inter Medium"/>
                          <a:ea typeface="Inter Medium"/>
                          <a:cs typeface="Inter Medium"/>
                          <a:sym typeface="Inter Medium"/>
                        </a:rPr>
                        <a:t>Frontend Developer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475569"/>
                          </a:solidFill>
                          <a:latin typeface="Inter"/>
                          <a:ea typeface="Inter"/>
                          <a:cs typeface="Inter"/>
                          <a:sym typeface="Inter"/>
                        </a:rPr>
                        <a:t>Builds responsive React apps with Mapbox GL and real-time WebSockets.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37775">
                <a:tc>
                  <a:txBody>
                    <a:bodyPr/>
                    <a:lstStyle/>
                    <a:p>
                      <a:pPr indent="0" lvl="0" marL="0" marR="0" rtl="0" algn="l">
                        <a:spcBef>
                          <a:spcPts val="0"/>
                        </a:spcBef>
                        <a:spcAft>
                          <a:spcPts val="0"/>
                        </a:spcAft>
                        <a:buNone/>
                      </a:pPr>
                      <a:r>
                        <a:rPr b="0" i="0" lang="en-US" sz="1200" u="none" cap="none" strike="noStrike">
                          <a:solidFill>
                            <a:srgbClr val="0F172A"/>
                          </a:solidFill>
                          <a:latin typeface="Inter SemiBold"/>
                          <a:ea typeface="Inter SemiBold"/>
                          <a:cs typeface="Inter SemiBold"/>
                          <a:sym typeface="Inter SemiBold"/>
                        </a:rPr>
                        <a:t>Sneha Rao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563EB"/>
                          </a:solidFill>
                          <a:latin typeface="Inter Medium"/>
                          <a:ea typeface="Inter Medium"/>
                          <a:cs typeface="Inter Medium"/>
                          <a:sym typeface="Inter Medium"/>
                        </a:rPr>
                        <a:t>Cloud DevOps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475569"/>
                          </a:solidFill>
                          <a:latin typeface="Inter"/>
                          <a:ea typeface="Inter"/>
                          <a:cs typeface="Inter"/>
                          <a:sym typeface="Inter"/>
                        </a:rPr>
                        <a:t>Manages AWS deployment, Docker containerization, and CI/CD pipelines.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37775">
                <a:tc>
                  <a:txBody>
                    <a:bodyPr/>
                    <a:lstStyle/>
                    <a:p>
                      <a:pPr indent="0" lvl="0" marL="0" marR="0" rtl="0" algn="l">
                        <a:spcBef>
                          <a:spcPts val="0"/>
                        </a:spcBef>
                        <a:spcAft>
                          <a:spcPts val="0"/>
                        </a:spcAft>
                        <a:buNone/>
                      </a:pPr>
                      <a:r>
                        <a:rPr b="0" i="0" lang="en-US" sz="1200" u="none" cap="none" strike="noStrike">
                          <a:solidFill>
                            <a:srgbClr val="0F172A"/>
                          </a:solidFill>
                          <a:latin typeface="Inter SemiBold"/>
                          <a:ea typeface="Inter SemiBold"/>
                          <a:cs typeface="Inter SemiBold"/>
                          <a:sym typeface="Inter SemiBold"/>
                        </a:rPr>
                        <a:t>Arjun Thakur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2563EB"/>
                          </a:solidFill>
                          <a:latin typeface="Inter Medium"/>
                          <a:ea typeface="Inter Medium"/>
                          <a:cs typeface="Inter Medium"/>
                          <a:sym typeface="Inter Medium"/>
                        </a:rPr>
                        <a:t>GIS / Design Spec.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475569"/>
                          </a:solidFill>
                          <a:latin typeface="Inter"/>
                          <a:ea typeface="Inter"/>
                          <a:cs typeface="Inter"/>
                          <a:sym typeface="Inter"/>
                        </a:rPr>
                        <a:t>Ensures accurate topographical mapping and intuitive User Experience design.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89" name="Google Shape;289;p22"/>
          <p:cNvSpPr/>
          <p:nvPr/>
        </p:nvSpPr>
        <p:spPr>
          <a:xfrm>
            <a:off x="762000" y="1953517"/>
            <a:ext cx="26670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0" name="Google Shape;290;p22"/>
          <p:cNvSpPr/>
          <p:nvPr/>
        </p:nvSpPr>
        <p:spPr>
          <a:xfrm>
            <a:off x="3429000" y="1953517"/>
            <a:ext cx="26670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1" name="Google Shape;291;p22"/>
          <p:cNvSpPr/>
          <p:nvPr/>
        </p:nvSpPr>
        <p:spPr>
          <a:xfrm>
            <a:off x="6096000" y="1953517"/>
            <a:ext cx="53340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2" name="Google Shape;292;p22"/>
          <p:cNvSpPr/>
          <p:nvPr/>
        </p:nvSpPr>
        <p:spPr>
          <a:xfrm>
            <a:off x="762000" y="2511623"/>
            <a:ext cx="26670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3" name="Google Shape;293;p22"/>
          <p:cNvSpPr/>
          <p:nvPr/>
        </p:nvSpPr>
        <p:spPr>
          <a:xfrm>
            <a:off x="3429000" y="2511623"/>
            <a:ext cx="26670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4" name="Google Shape;294;p22"/>
          <p:cNvSpPr/>
          <p:nvPr/>
        </p:nvSpPr>
        <p:spPr>
          <a:xfrm>
            <a:off x="6096000" y="2511623"/>
            <a:ext cx="53340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5" name="Google Shape;295;p22"/>
          <p:cNvSpPr/>
          <p:nvPr/>
        </p:nvSpPr>
        <p:spPr>
          <a:xfrm>
            <a:off x="762000" y="3313509"/>
            <a:ext cx="26670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6" name="Google Shape;296;p22"/>
          <p:cNvSpPr/>
          <p:nvPr/>
        </p:nvSpPr>
        <p:spPr>
          <a:xfrm>
            <a:off x="3429000" y="3313509"/>
            <a:ext cx="26670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7" name="Google Shape;297;p22"/>
          <p:cNvSpPr/>
          <p:nvPr/>
        </p:nvSpPr>
        <p:spPr>
          <a:xfrm>
            <a:off x="6096000" y="3313509"/>
            <a:ext cx="53340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8" name="Google Shape;298;p22"/>
          <p:cNvSpPr/>
          <p:nvPr/>
        </p:nvSpPr>
        <p:spPr>
          <a:xfrm>
            <a:off x="762000" y="3871614"/>
            <a:ext cx="26670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9" name="Google Shape;299;p22"/>
          <p:cNvSpPr/>
          <p:nvPr/>
        </p:nvSpPr>
        <p:spPr>
          <a:xfrm>
            <a:off x="3429000" y="3871614"/>
            <a:ext cx="26670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0" name="Google Shape;300;p22"/>
          <p:cNvSpPr/>
          <p:nvPr/>
        </p:nvSpPr>
        <p:spPr>
          <a:xfrm>
            <a:off x="6096000" y="3871614"/>
            <a:ext cx="53340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1" name="Google Shape;301;p22"/>
          <p:cNvSpPr/>
          <p:nvPr/>
        </p:nvSpPr>
        <p:spPr>
          <a:xfrm>
            <a:off x="762000" y="4429720"/>
            <a:ext cx="26670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2" name="Google Shape;302;p22"/>
          <p:cNvSpPr/>
          <p:nvPr/>
        </p:nvSpPr>
        <p:spPr>
          <a:xfrm>
            <a:off x="3429000" y="4429720"/>
            <a:ext cx="26670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3" name="Google Shape;303;p22"/>
          <p:cNvSpPr/>
          <p:nvPr/>
        </p:nvSpPr>
        <p:spPr>
          <a:xfrm>
            <a:off x="6096000" y="4429720"/>
            <a:ext cx="53340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4" name="Google Shape;304;p22"/>
          <p:cNvSpPr txBox="1"/>
          <p:nvPr/>
        </p:nvSpPr>
        <p:spPr>
          <a:xfrm>
            <a:off x="952500" y="5712618"/>
            <a:ext cx="3467152"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94A3B8"/>
                </a:solidFill>
                <a:latin typeface="Inter"/>
                <a:ea typeface="Inter"/>
                <a:cs typeface="Inter"/>
                <a:sym typeface="Inter"/>
              </a:rPr>
              <a:t>MENTOR</a:t>
            </a:r>
            <a:endParaRPr/>
          </a:p>
        </p:txBody>
      </p:sp>
      <p:sp>
        <p:nvSpPr>
          <p:cNvPr id="305" name="Google Shape;305;p22"/>
          <p:cNvSpPr txBox="1"/>
          <p:nvPr/>
        </p:nvSpPr>
        <p:spPr>
          <a:xfrm>
            <a:off x="952500" y="5950743"/>
            <a:ext cx="3302049"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0F172A"/>
                </a:solidFill>
                <a:latin typeface="Inter Medium"/>
                <a:ea typeface="Inter Medium"/>
                <a:cs typeface="Inter Medium"/>
                <a:sym typeface="Inter Medium"/>
              </a:rPr>
              <a:t>Dr. Rajesh Kumar</a:t>
            </a:r>
            <a:endParaRPr/>
          </a:p>
        </p:txBody>
      </p:sp>
      <p:sp>
        <p:nvSpPr>
          <p:cNvPr id="306" name="Google Shape;306;p22"/>
          <p:cNvSpPr txBox="1"/>
          <p:nvPr/>
        </p:nvSpPr>
        <p:spPr>
          <a:xfrm>
            <a:off x="952500" y="6194524"/>
            <a:ext cx="3302049"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475569"/>
                </a:solidFill>
                <a:latin typeface="Inter"/>
                <a:ea typeface="Inter"/>
                <a:cs typeface="Inter"/>
                <a:sym typeface="Inter"/>
              </a:rPr>
              <a:t>15+ yrs in Atmospheric Sciences &amp; NWP.</a:t>
            </a:r>
            <a:endParaRPr/>
          </a:p>
        </p:txBody>
      </p:sp>
      <p:sp>
        <p:nvSpPr>
          <p:cNvPr id="307" name="Google Shape;307;p22"/>
          <p:cNvSpPr txBox="1"/>
          <p:nvPr/>
        </p:nvSpPr>
        <p:spPr>
          <a:xfrm>
            <a:off x="4635549" y="5712618"/>
            <a:ext cx="6934147"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94A3B8"/>
                </a:solidFill>
                <a:latin typeface="Inter"/>
                <a:ea typeface="Inter"/>
                <a:cs typeface="Inter"/>
                <a:sym typeface="Inter"/>
              </a:rPr>
              <a:t>KEY REFERENCES</a:t>
            </a:r>
            <a:endParaRPr/>
          </a:p>
        </p:txBody>
      </p:sp>
      <p:sp>
        <p:nvSpPr>
          <p:cNvPr id="308" name="Google Shape;308;p22"/>
          <p:cNvSpPr txBox="1"/>
          <p:nvPr/>
        </p:nvSpPr>
        <p:spPr>
          <a:xfrm>
            <a:off x="4635549" y="5950743"/>
            <a:ext cx="6603950"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475569"/>
                </a:solidFill>
                <a:latin typeface="Inter"/>
                <a:ea typeface="Inter"/>
                <a:cs typeface="Inter"/>
                <a:sym typeface="Inter"/>
              </a:rPr>
              <a:t>• </a:t>
            </a:r>
            <a:r>
              <a:rPr b="0" i="1" lang="en-US" sz="1050" u="none" cap="none" strike="noStrike">
                <a:solidFill>
                  <a:srgbClr val="475569"/>
                </a:solidFill>
                <a:latin typeface="Inter"/>
                <a:ea typeface="Inter"/>
                <a:cs typeface="Inter"/>
                <a:sym typeface="Inter"/>
              </a:rPr>
              <a:t>IMD Open Data Portal</a:t>
            </a:r>
            <a:r>
              <a:rPr b="0" i="0" lang="en-US" sz="1050" u="none" cap="none" strike="noStrike">
                <a:solidFill>
                  <a:srgbClr val="475569"/>
                </a:solidFill>
                <a:latin typeface="Inter"/>
                <a:ea typeface="Inter"/>
                <a:cs typeface="Inter"/>
                <a:sym typeface="Inter"/>
              </a:rPr>
              <a:t> (Radar &amp; Satellite Feeds)</a:t>
            </a:r>
            <a:endParaRPr/>
          </a:p>
        </p:txBody>
      </p:sp>
      <p:sp>
        <p:nvSpPr>
          <p:cNvPr id="309" name="Google Shape;309;p22"/>
          <p:cNvSpPr txBox="1"/>
          <p:nvPr/>
        </p:nvSpPr>
        <p:spPr>
          <a:xfrm>
            <a:off x="4635549" y="6202114"/>
            <a:ext cx="6603950"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475569"/>
                </a:solidFill>
                <a:latin typeface="Inter"/>
                <a:ea typeface="Inter"/>
                <a:cs typeface="Inter"/>
                <a:sym typeface="Inter"/>
              </a:rPr>
              <a:t>• Ravuri et al., </a:t>
            </a:r>
            <a:r>
              <a:rPr b="0" i="1" lang="en-US" sz="1050" u="none" cap="none" strike="noStrike">
                <a:solidFill>
                  <a:srgbClr val="475569"/>
                </a:solidFill>
                <a:latin typeface="Inter"/>
                <a:ea typeface="Inter"/>
                <a:cs typeface="Inter"/>
                <a:sym typeface="Inter"/>
              </a:rPr>
              <a:t>"Skilful precipitation nowcasting using deep generative models"</a:t>
            </a:r>
            <a:r>
              <a:rPr b="0" i="0" lang="en-US" sz="1050" u="none" cap="none" strike="noStrike">
                <a:solidFill>
                  <a:srgbClr val="475569"/>
                </a:solidFill>
                <a:latin typeface="Inter"/>
                <a:ea typeface="Inter"/>
                <a:cs typeface="Inter"/>
                <a:sym typeface="Inter"/>
              </a:rPr>
              <a:t> (Nature, DeepMind)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